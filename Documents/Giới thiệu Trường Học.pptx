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7" r:id="rId14"/>
    <p:sldId id="268" r:id="rId15"/>
  </p:sldIdLst>
  <p:sldSz cx="18288000" cy="10287000"/>
  <p:notesSz cx="6858000" cy="9144000"/>
  <p:embeddedFontLst>
    <p:embeddedFont>
      <p:font typeface="Aileron Bold" panose="020B0604020202020204" charset="0"/>
      <p:regular r:id="rId17"/>
    </p:embeddedFont>
    <p:embeddedFont>
      <p:font typeface="Cormorant Garamond Bold Italics" panose="020B0604020202020204" charset="0"/>
      <p:regular r:id="rId18"/>
    </p:embeddedFont>
    <p:embeddedFont>
      <p:font typeface="Quicksand" panose="020B0604020202020204" charset="0"/>
      <p:regular r:id="rId19"/>
    </p:embeddedFont>
    <p:embeddedFont>
      <p:font typeface="Quicksand Bold" panose="020B0604020202020204" charset="0"/>
      <p:regular r:id="rId20"/>
    </p:embeddedFont>
    <p:embeddedFont>
      <p:font typeface="Roboto Bold" panose="020B0604020202020204" charset="0"/>
      <p:regular r:id="rId21"/>
    </p:embeddedFont>
    <p:embeddedFont>
      <p:font typeface="Roboto Bold Italics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5F815E-522A-4524-A39A-7253757E6602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C961E5-B099-41C3-9254-2EF911DD2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760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961E5-B099-41C3-9254-2EF911DD23A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2012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961E5-B099-41C3-9254-2EF911DD23A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7914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158735" y="990600"/>
            <a:ext cx="8114971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043764" y="9296400"/>
            <a:ext cx="8114971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9618706" y="9037492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5646742" y="807892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4596199" y="8732362"/>
            <a:ext cx="2677507" cy="1051876"/>
          </a:xfrm>
          <a:custGeom>
            <a:avLst/>
            <a:gdLst/>
            <a:ahLst/>
            <a:cxnLst/>
            <a:rect l="l" t="t" r="r" b="b"/>
            <a:pathLst>
              <a:path w="2677507" h="1051876">
                <a:moveTo>
                  <a:pt x="0" y="0"/>
                </a:moveTo>
                <a:lnTo>
                  <a:pt x="2677507" y="0"/>
                </a:lnTo>
                <a:lnTo>
                  <a:pt x="2677507" y="1051876"/>
                </a:lnTo>
                <a:lnTo>
                  <a:pt x="0" y="10518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408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28700" y="4559809"/>
            <a:ext cx="16229942" cy="3462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999"/>
              </a:lnSpc>
              <a:spcBef>
                <a:spcPct val="0"/>
              </a:spcBef>
            </a:pPr>
            <a:r>
              <a:rPr lang="en-US" sz="9999" dirty="0">
                <a:solidFill>
                  <a:srgbClr val="000000"/>
                </a:solidFill>
                <a:latin typeface="Roboto Bold Italics"/>
              </a:rPr>
              <a:t>TRANG THÔNG TIN </a:t>
            </a:r>
            <a:r>
              <a:rPr lang="en-US" sz="9999" dirty="0" err="1">
                <a:solidFill>
                  <a:srgbClr val="000000"/>
                </a:solidFill>
                <a:latin typeface="Roboto Bold Italics"/>
              </a:rPr>
              <a:t>GIÁO</a:t>
            </a:r>
            <a:r>
              <a:rPr lang="en-US" sz="9999" dirty="0">
                <a:solidFill>
                  <a:srgbClr val="000000"/>
                </a:solidFill>
                <a:latin typeface="Roboto Bold Italics"/>
              </a:rPr>
              <a:t> </a:t>
            </a:r>
            <a:r>
              <a:rPr lang="en-US" sz="9999" dirty="0" err="1">
                <a:solidFill>
                  <a:srgbClr val="000000"/>
                </a:solidFill>
                <a:latin typeface="Roboto Bold Italics"/>
              </a:rPr>
              <a:t>DỤC</a:t>
            </a:r>
            <a:r>
              <a:rPr lang="en-US" sz="9999" dirty="0">
                <a:solidFill>
                  <a:srgbClr val="000000"/>
                </a:solidFill>
                <a:latin typeface="Roboto Bold Italics"/>
              </a:rPr>
              <a:t> CHO </a:t>
            </a:r>
            <a:r>
              <a:rPr lang="en-US" sz="9999" dirty="0" err="1">
                <a:solidFill>
                  <a:srgbClr val="000000"/>
                </a:solidFill>
                <a:latin typeface="Roboto Bold Italics"/>
              </a:rPr>
              <a:t>TRƯỜNG</a:t>
            </a:r>
            <a:r>
              <a:rPr lang="en-US" sz="9999" dirty="0">
                <a:solidFill>
                  <a:srgbClr val="000000"/>
                </a:solidFill>
                <a:latin typeface="Roboto Bold Italics"/>
              </a:rPr>
              <a:t> </a:t>
            </a:r>
            <a:r>
              <a:rPr lang="en-US" sz="9999" dirty="0" err="1">
                <a:solidFill>
                  <a:srgbClr val="000000"/>
                </a:solidFill>
                <a:latin typeface="Roboto Bold Italics"/>
              </a:rPr>
              <a:t>HỌC</a:t>
            </a:r>
            <a:endParaRPr lang="en-US" sz="9999" dirty="0">
              <a:solidFill>
                <a:srgbClr val="000000"/>
              </a:solidFill>
              <a:latin typeface="Roboto Bold Italic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307115" y="3849023"/>
            <a:ext cx="11643643" cy="869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197"/>
              </a:lnSpc>
              <a:spcBef>
                <a:spcPct val="0"/>
              </a:spcBef>
            </a:pPr>
            <a:r>
              <a:rPr lang="en-US" sz="5141">
                <a:solidFill>
                  <a:srgbClr val="000000"/>
                </a:solidFill>
                <a:latin typeface="Quicksand"/>
              </a:rPr>
              <a:t>GIỚI THIỆU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660651" y="0"/>
            <a:ext cx="4627349" cy="10287000"/>
            <a:chOff x="0" y="0"/>
            <a:chExt cx="121872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18726" cy="2709333"/>
            </a:xfrm>
            <a:custGeom>
              <a:avLst/>
              <a:gdLst/>
              <a:ahLst/>
              <a:cxnLst/>
              <a:rect l="l" t="t" r="r" b="b"/>
              <a:pathLst>
                <a:path w="1218726" h="2709333">
                  <a:moveTo>
                    <a:pt x="0" y="0"/>
                  </a:moveTo>
                  <a:lnTo>
                    <a:pt x="1218726" y="0"/>
                  </a:lnTo>
                  <a:lnTo>
                    <a:pt x="12187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7994A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1218726" cy="28331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7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599709"/>
            <a:ext cx="5702843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000000"/>
                </a:solidFill>
                <a:latin typeface="Cormorant Garamond Bold Italics"/>
              </a:rPr>
              <a:t>MỤC LỤC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151531"/>
            <a:ext cx="10527757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919"/>
              </a:lnSpc>
              <a:spcBef>
                <a:spcPct val="0"/>
              </a:spcBef>
            </a:pPr>
            <a:r>
              <a:rPr lang="en-US" sz="2799" dirty="0">
                <a:solidFill>
                  <a:srgbClr val="000000"/>
                </a:solidFill>
                <a:latin typeface="Quicksand Bold"/>
              </a:rPr>
              <a:t>1. </a:t>
            </a:r>
            <a:r>
              <a:rPr lang="en-US" sz="2799" dirty="0" err="1">
                <a:solidFill>
                  <a:srgbClr val="000000"/>
                </a:solidFill>
                <a:latin typeface="Quicksand Bold"/>
              </a:rPr>
              <a:t>Giới</a:t>
            </a:r>
            <a:r>
              <a:rPr lang="en-US" sz="2799" dirty="0">
                <a:solidFill>
                  <a:srgbClr val="000000"/>
                </a:solidFill>
                <a:latin typeface="Quicksand Bol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 Bold"/>
              </a:rPr>
              <a:t>thiệu</a:t>
            </a:r>
            <a:endParaRPr lang="en-US" sz="2799" dirty="0">
              <a:solidFill>
                <a:srgbClr val="000000"/>
              </a:solidFill>
              <a:latin typeface="Quicksand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3871105"/>
            <a:ext cx="10527757" cy="565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4759"/>
              </a:lnSpc>
            </a:pPr>
            <a:r>
              <a:rPr lang="en-US" sz="2799" dirty="0">
                <a:solidFill>
                  <a:srgbClr val="000000"/>
                </a:solidFill>
                <a:latin typeface="Quicksand Bold"/>
              </a:rPr>
              <a:t>3. </a:t>
            </a:r>
            <a:r>
              <a:rPr lang="en-US" sz="2799" dirty="0" err="1">
                <a:solidFill>
                  <a:srgbClr val="000000"/>
                </a:solidFill>
                <a:latin typeface="Quicksand Bold"/>
              </a:rPr>
              <a:t>Kiến</a:t>
            </a:r>
            <a:r>
              <a:rPr lang="en-US" sz="2799" dirty="0">
                <a:solidFill>
                  <a:srgbClr val="000000"/>
                </a:solidFill>
                <a:latin typeface="Quicksand Bol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 Bold"/>
              </a:rPr>
              <a:t>trúc</a:t>
            </a:r>
            <a:r>
              <a:rPr lang="en-US" sz="2799" dirty="0">
                <a:solidFill>
                  <a:srgbClr val="000000"/>
                </a:solidFill>
                <a:latin typeface="Quicksand Bol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 Bold"/>
              </a:rPr>
              <a:t>hệ</a:t>
            </a:r>
            <a:r>
              <a:rPr lang="en-US" sz="2799" dirty="0">
                <a:solidFill>
                  <a:srgbClr val="000000"/>
                </a:solidFill>
                <a:latin typeface="Quicksand Bol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 Bold"/>
              </a:rPr>
              <a:t>thống</a:t>
            </a:r>
            <a:endParaRPr lang="en-US" sz="2799" dirty="0">
              <a:solidFill>
                <a:srgbClr val="000000"/>
              </a:solidFill>
              <a:latin typeface="Quicksand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28700" y="4988705"/>
            <a:ext cx="10527757" cy="565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4759"/>
              </a:lnSpc>
            </a:pPr>
            <a:r>
              <a:rPr lang="en-US" sz="2799" dirty="0">
                <a:solidFill>
                  <a:srgbClr val="000000"/>
                </a:solidFill>
                <a:latin typeface="Quicksand Bold"/>
              </a:rPr>
              <a:t>4. </a:t>
            </a:r>
            <a:r>
              <a:rPr lang="en-US" sz="2799" dirty="0" err="1">
                <a:solidFill>
                  <a:srgbClr val="000000"/>
                </a:solidFill>
                <a:latin typeface="Quicksand Bold"/>
              </a:rPr>
              <a:t>Chức</a:t>
            </a:r>
            <a:r>
              <a:rPr lang="en-US" sz="2799" dirty="0">
                <a:solidFill>
                  <a:srgbClr val="000000"/>
                </a:solidFill>
                <a:latin typeface="Quicksand Bol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 Bold"/>
              </a:rPr>
              <a:t>năng</a:t>
            </a:r>
            <a:r>
              <a:rPr lang="en-US" sz="2799" dirty="0">
                <a:solidFill>
                  <a:srgbClr val="000000"/>
                </a:solidFill>
                <a:latin typeface="Quicksand Bol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 Bold"/>
              </a:rPr>
              <a:t>hệ</a:t>
            </a:r>
            <a:r>
              <a:rPr lang="en-US" sz="2799" dirty="0">
                <a:solidFill>
                  <a:srgbClr val="000000"/>
                </a:solidFill>
                <a:latin typeface="Quicksand Bol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 Bold"/>
              </a:rPr>
              <a:t>thống</a:t>
            </a:r>
            <a:endParaRPr lang="en-US" sz="2799" dirty="0">
              <a:solidFill>
                <a:srgbClr val="000000"/>
              </a:solidFill>
              <a:latin typeface="Quicksand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8700" y="6102840"/>
            <a:ext cx="10527757" cy="565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4759"/>
              </a:lnSpc>
            </a:pPr>
            <a:r>
              <a:rPr lang="en-US" sz="2799" dirty="0">
                <a:solidFill>
                  <a:srgbClr val="000000"/>
                </a:solidFill>
                <a:latin typeface="Quicksand Bold"/>
              </a:rPr>
              <a:t>5. Liên </a:t>
            </a:r>
            <a:r>
              <a:rPr lang="en-US" sz="2799" dirty="0" err="1">
                <a:solidFill>
                  <a:srgbClr val="000000"/>
                </a:solidFill>
                <a:latin typeface="Quicksand Bold"/>
              </a:rPr>
              <a:t>kết</a:t>
            </a:r>
            <a:r>
              <a:rPr lang="en-US" sz="2799" dirty="0">
                <a:solidFill>
                  <a:srgbClr val="000000"/>
                </a:solidFill>
                <a:latin typeface="Quicksand Bold"/>
              </a:rPr>
              <a:t>, </a:t>
            </a:r>
            <a:r>
              <a:rPr lang="en-US" sz="2799" dirty="0" err="1">
                <a:solidFill>
                  <a:srgbClr val="000000"/>
                </a:solidFill>
                <a:latin typeface="Quicksand Bold"/>
              </a:rPr>
              <a:t>tích</a:t>
            </a:r>
            <a:r>
              <a:rPr lang="en-US" sz="2799" dirty="0">
                <a:solidFill>
                  <a:srgbClr val="000000"/>
                </a:solidFill>
                <a:latin typeface="Quicksand Bol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 Bold"/>
              </a:rPr>
              <a:t>hợp</a:t>
            </a:r>
            <a:r>
              <a:rPr lang="en-US" sz="2799" dirty="0">
                <a:solidFill>
                  <a:srgbClr val="000000"/>
                </a:solidFill>
                <a:latin typeface="Quicksand Bol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 Bold"/>
              </a:rPr>
              <a:t>thông</a:t>
            </a:r>
            <a:r>
              <a:rPr lang="en-US" sz="2799" dirty="0">
                <a:solidFill>
                  <a:srgbClr val="000000"/>
                </a:solidFill>
                <a:latin typeface="Quicksand Bold"/>
              </a:rPr>
              <a:t> tin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7220440"/>
            <a:ext cx="10527757" cy="565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4759"/>
              </a:lnSpc>
            </a:pPr>
            <a:r>
              <a:rPr lang="en-US" sz="2799" dirty="0">
                <a:solidFill>
                  <a:srgbClr val="000000"/>
                </a:solidFill>
                <a:latin typeface="Quicksand Bold"/>
              </a:rPr>
              <a:t>6. </a:t>
            </a:r>
            <a:r>
              <a:rPr lang="en-US" sz="2799" dirty="0" err="1">
                <a:solidFill>
                  <a:srgbClr val="000000"/>
                </a:solidFill>
                <a:latin typeface="Quicksand Bold"/>
              </a:rPr>
              <a:t>Yêu</a:t>
            </a:r>
            <a:r>
              <a:rPr lang="en-US" sz="2799" dirty="0">
                <a:solidFill>
                  <a:srgbClr val="000000"/>
                </a:solidFill>
                <a:latin typeface="Quicksand Bol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 Bold"/>
              </a:rPr>
              <a:t>cầu</a:t>
            </a:r>
            <a:r>
              <a:rPr lang="en-US" sz="2799" dirty="0">
                <a:solidFill>
                  <a:srgbClr val="000000"/>
                </a:solidFill>
                <a:latin typeface="Quicksand Bold"/>
              </a:rPr>
              <a:t> phi </a:t>
            </a:r>
            <a:r>
              <a:rPr lang="en-US" sz="2799" dirty="0" err="1">
                <a:solidFill>
                  <a:srgbClr val="000000"/>
                </a:solidFill>
                <a:latin typeface="Quicksand Bold"/>
              </a:rPr>
              <a:t>chức</a:t>
            </a:r>
            <a:r>
              <a:rPr lang="en-US" sz="2799" dirty="0">
                <a:solidFill>
                  <a:srgbClr val="000000"/>
                </a:solidFill>
                <a:latin typeface="Quicksand Bol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 Bold"/>
              </a:rPr>
              <a:t>năng</a:t>
            </a:r>
            <a:endParaRPr lang="en-US" sz="2799" dirty="0">
              <a:solidFill>
                <a:srgbClr val="000000"/>
              </a:solidFill>
              <a:latin typeface="Quicksand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28700" y="8338040"/>
            <a:ext cx="10527757" cy="565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4759"/>
              </a:lnSpc>
            </a:pPr>
            <a:r>
              <a:rPr lang="en-US" sz="2799" dirty="0">
                <a:solidFill>
                  <a:srgbClr val="000000"/>
                </a:solidFill>
                <a:latin typeface="Quicksand Bold"/>
              </a:rPr>
              <a:t>7. Demo</a:t>
            </a:r>
          </a:p>
        </p:txBody>
      </p:sp>
      <p:sp>
        <p:nvSpPr>
          <p:cNvPr id="12" name="Freeform 12"/>
          <p:cNvSpPr/>
          <p:nvPr/>
        </p:nvSpPr>
        <p:spPr>
          <a:xfrm>
            <a:off x="10217704" y="8732362"/>
            <a:ext cx="2677507" cy="1051876"/>
          </a:xfrm>
          <a:custGeom>
            <a:avLst/>
            <a:gdLst/>
            <a:ahLst/>
            <a:cxnLst/>
            <a:rect l="l" t="t" r="r" b="b"/>
            <a:pathLst>
              <a:path w="2677507" h="1051876">
                <a:moveTo>
                  <a:pt x="0" y="0"/>
                </a:moveTo>
                <a:lnTo>
                  <a:pt x="2677506" y="0"/>
                </a:lnTo>
                <a:lnTo>
                  <a:pt x="2677506" y="1051876"/>
                </a:lnTo>
                <a:lnTo>
                  <a:pt x="0" y="1051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408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BF903DBA-89D8-9DC2-A2F0-257C7DC56065}"/>
              </a:ext>
            </a:extLst>
          </p:cNvPr>
          <p:cNvSpPr txBox="1"/>
          <p:nvPr/>
        </p:nvSpPr>
        <p:spPr>
          <a:xfrm>
            <a:off x="1028700" y="2908796"/>
            <a:ext cx="10527757" cy="565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4759"/>
              </a:lnSpc>
            </a:pPr>
            <a:r>
              <a:rPr lang="en-US" sz="2799" dirty="0">
                <a:solidFill>
                  <a:srgbClr val="000000"/>
                </a:solidFill>
                <a:latin typeface="Quicksand Bold"/>
              </a:rPr>
              <a:t>2. </a:t>
            </a:r>
            <a:r>
              <a:rPr lang="en-US" sz="2799" dirty="0" err="1">
                <a:solidFill>
                  <a:srgbClr val="000000"/>
                </a:solidFill>
                <a:latin typeface="Quicksand Bold"/>
              </a:rPr>
              <a:t>Ưu</a:t>
            </a:r>
            <a:r>
              <a:rPr lang="en-US" sz="2799" dirty="0">
                <a:solidFill>
                  <a:srgbClr val="000000"/>
                </a:solidFill>
                <a:latin typeface="Quicksand Bol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 Bold"/>
              </a:rPr>
              <a:t>điểm</a:t>
            </a:r>
            <a:endParaRPr lang="en-US" sz="2799" dirty="0">
              <a:solidFill>
                <a:srgbClr val="000000"/>
              </a:solidFill>
              <a:latin typeface="Quicksand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562997" y="4043633"/>
            <a:ext cx="11162007" cy="2622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69"/>
              </a:lnSpc>
            </a:pPr>
            <a:r>
              <a:rPr lang="en-US" sz="3099" dirty="0" err="1">
                <a:solidFill>
                  <a:srgbClr val="000000"/>
                </a:solidFill>
                <a:latin typeface="Quicksand"/>
              </a:rPr>
              <a:t>Cổng</a:t>
            </a:r>
            <a:r>
              <a:rPr lang="en-US" sz="30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Quicksand"/>
              </a:rPr>
              <a:t>thông</a:t>
            </a:r>
            <a:r>
              <a:rPr lang="en-US" sz="3099" dirty="0">
                <a:solidFill>
                  <a:srgbClr val="000000"/>
                </a:solidFill>
                <a:latin typeface="Quicksand"/>
              </a:rPr>
              <a:t> tin </a:t>
            </a:r>
            <a:r>
              <a:rPr lang="en-US" sz="3099" dirty="0" err="1">
                <a:solidFill>
                  <a:srgbClr val="000000"/>
                </a:solidFill>
                <a:latin typeface="Quicksand"/>
              </a:rPr>
              <a:t>điện</a:t>
            </a:r>
            <a:r>
              <a:rPr lang="en-US" sz="30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Quicksand"/>
              </a:rPr>
              <a:t>tử</a:t>
            </a:r>
            <a:r>
              <a:rPr lang="en-US" sz="30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Quicksand"/>
              </a:rPr>
              <a:t>giáo</a:t>
            </a:r>
            <a:r>
              <a:rPr lang="en-US" sz="30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Quicksand"/>
              </a:rPr>
              <a:t>dục</a:t>
            </a:r>
            <a:r>
              <a:rPr lang="en-US" sz="30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Quicksand"/>
              </a:rPr>
              <a:t>là</a:t>
            </a:r>
            <a:r>
              <a:rPr lang="en-US" sz="30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Quicksand"/>
              </a:rPr>
              <a:t>cổng</a:t>
            </a:r>
            <a:r>
              <a:rPr lang="en-US" sz="30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Quicksand"/>
              </a:rPr>
              <a:t>thông</a:t>
            </a:r>
            <a:r>
              <a:rPr lang="en-US" sz="3099" dirty="0">
                <a:solidFill>
                  <a:srgbClr val="000000"/>
                </a:solidFill>
                <a:latin typeface="Quicksand"/>
              </a:rPr>
              <a:t> tin </a:t>
            </a:r>
            <a:r>
              <a:rPr lang="en-US" sz="3099" dirty="0" err="1">
                <a:solidFill>
                  <a:srgbClr val="000000"/>
                </a:solidFill>
                <a:latin typeface="Quicksand"/>
              </a:rPr>
              <a:t>về</a:t>
            </a:r>
            <a:r>
              <a:rPr lang="en-US" sz="30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Quicksand"/>
              </a:rPr>
              <a:t>lĩnh</a:t>
            </a:r>
            <a:r>
              <a:rPr lang="en-US" sz="30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Quicksand"/>
              </a:rPr>
              <a:t>vực</a:t>
            </a:r>
            <a:r>
              <a:rPr lang="en-US" sz="30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Quicksand"/>
              </a:rPr>
              <a:t>giáo</a:t>
            </a:r>
            <a:r>
              <a:rPr lang="en-US" sz="30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Quicksand"/>
              </a:rPr>
              <a:t>dục</a:t>
            </a:r>
            <a:r>
              <a:rPr lang="en-US" sz="30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Quicksand"/>
              </a:rPr>
              <a:t>của</a:t>
            </a:r>
            <a:r>
              <a:rPr lang="en-US" sz="30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Quicksand"/>
              </a:rPr>
              <a:t>các</a:t>
            </a:r>
            <a:r>
              <a:rPr lang="en-US" sz="30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Quicksand"/>
              </a:rPr>
              <a:t>đơn</a:t>
            </a:r>
            <a:r>
              <a:rPr lang="en-US" sz="30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Quicksand"/>
              </a:rPr>
              <a:t>vị</a:t>
            </a:r>
            <a:r>
              <a:rPr lang="en-US" sz="30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Quicksand"/>
              </a:rPr>
              <a:t>trường</a:t>
            </a:r>
            <a:r>
              <a:rPr lang="en-US" sz="30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Quicksand"/>
              </a:rPr>
              <a:t>học</a:t>
            </a:r>
            <a:r>
              <a:rPr lang="en-US" sz="3099" dirty="0">
                <a:solidFill>
                  <a:srgbClr val="000000"/>
                </a:solidFill>
                <a:latin typeface="Quicksand"/>
              </a:rPr>
              <a:t>.</a:t>
            </a:r>
          </a:p>
          <a:p>
            <a:pPr marL="0" lvl="0" indent="0" algn="ctr">
              <a:lnSpc>
                <a:spcPts val="5269"/>
              </a:lnSpc>
            </a:pPr>
            <a:r>
              <a:rPr lang="en-US" sz="3099" dirty="0">
                <a:solidFill>
                  <a:srgbClr val="000000"/>
                </a:solidFill>
                <a:latin typeface="Quicksand"/>
              </a:rPr>
              <a:t>Thông tin </a:t>
            </a:r>
            <a:r>
              <a:rPr lang="en-US" sz="3099" dirty="0" err="1">
                <a:solidFill>
                  <a:srgbClr val="000000"/>
                </a:solidFill>
                <a:latin typeface="Quicksand"/>
              </a:rPr>
              <a:t>đăng</a:t>
            </a:r>
            <a:r>
              <a:rPr lang="en-US" sz="30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Quicksand"/>
              </a:rPr>
              <a:t>tải</a:t>
            </a:r>
            <a:r>
              <a:rPr lang="en-US" sz="30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Quicksand"/>
              </a:rPr>
              <a:t>trên</a:t>
            </a:r>
            <a:r>
              <a:rPr lang="en-US" sz="30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Quicksand"/>
              </a:rPr>
              <a:t>cổng</a:t>
            </a:r>
            <a:r>
              <a:rPr lang="en-US" sz="30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Quicksand"/>
              </a:rPr>
              <a:t>là</a:t>
            </a:r>
            <a:r>
              <a:rPr lang="en-US" sz="30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Quicksand"/>
              </a:rPr>
              <a:t>thông</a:t>
            </a:r>
            <a:r>
              <a:rPr lang="en-US" sz="3099" dirty="0">
                <a:solidFill>
                  <a:srgbClr val="000000"/>
                </a:solidFill>
                <a:latin typeface="Quicksand"/>
              </a:rPr>
              <a:t> tin </a:t>
            </a:r>
            <a:r>
              <a:rPr lang="en-US" sz="3099" dirty="0" err="1">
                <a:solidFill>
                  <a:srgbClr val="000000"/>
                </a:solidFill>
                <a:latin typeface="Quicksand"/>
              </a:rPr>
              <a:t>chính</a:t>
            </a:r>
            <a:r>
              <a:rPr lang="en-US" sz="30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Quicksand"/>
              </a:rPr>
              <a:t>thống</a:t>
            </a:r>
            <a:r>
              <a:rPr lang="en-US" sz="30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Quicksand"/>
              </a:rPr>
              <a:t>trên</a:t>
            </a:r>
            <a:r>
              <a:rPr lang="en-US" sz="30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Quicksand"/>
              </a:rPr>
              <a:t>môi</a:t>
            </a:r>
            <a:r>
              <a:rPr lang="en-US" sz="30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Quicksand"/>
              </a:rPr>
              <a:t>trường</a:t>
            </a:r>
            <a:r>
              <a:rPr lang="en-US" sz="30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3099" dirty="0" err="1">
                <a:solidFill>
                  <a:srgbClr val="000000"/>
                </a:solidFill>
                <a:latin typeface="Quicksand"/>
              </a:rPr>
              <a:t>mạng</a:t>
            </a:r>
            <a:r>
              <a:rPr lang="en-US" sz="3099" dirty="0">
                <a:solidFill>
                  <a:srgbClr val="000000"/>
                </a:solidFill>
                <a:latin typeface="Quicksand"/>
              </a:rPr>
              <a:t>.</a:t>
            </a:r>
          </a:p>
        </p:txBody>
      </p:sp>
      <p:sp>
        <p:nvSpPr>
          <p:cNvPr id="3" name="AutoShape 3"/>
          <p:cNvSpPr/>
          <p:nvPr/>
        </p:nvSpPr>
        <p:spPr>
          <a:xfrm>
            <a:off x="5897880" y="3568974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5897880" y="7171009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8304001" y="2470557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028700" y="599709"/>
            <a:ext cx="8048163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000000"/>
                </a:solidFill>
                <a:latin typeface="Cormorant Garamond Bold Italics"/>
              </a:rPr>
              <a:t>GIỚI THIỆU</a:t>
            </a:r>
          </a:p>
        </p:txBody>
      </p:sp>
      <p:sp>
        <p:nvSpPr>
          <p:cNvPr id="7" name="Freeform 7"/>
          <p:cNvSpPr/>
          <p:nvPr/>
        </p:nvSpPr>
        <p:spPr>
          <a:xfrm>
            <a:off x="8304001" y="8019527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4596199" y="8732362"/>
            <a:ext cx="2677507" cy="1051876"/>
          </a:xfrm>
          <a:custGeom>
            <a:avLst/>
            <a:gdLst/>
            <a:ahLst/>
            <a:cxnLst/>
            <a:rect l="l" t="t" r="r" b="b"/>
            <a:pathLst>
              <a:path w="2677507" h="1051876">
                <a:moveTo>
                  <a:pt x="0" y="0"/>
                </a:moveTo>
                <a:lnTo>
                  <a:pt x="2677507" y="0"/>
                </a:lnTo>
                <a:lnTo>
                  <a:pt x="2677507" y="1051876"/>
                </a:lnTo>
                <a:lnTo>
                  <a:pt x="0" y="10518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4082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661723" y="4247056"/>
            <a:ext cx="3217846" cy="2501875"/>
          </a:xfrm>
          <a:custGeom>
            <a:avLst/>
            <a:gdLst/>
            <a:ahLst/>
            <a:cxnLst/>
            <a:rect l="l" t="t" r="r" b="b"/>
            <a:pathLst>
              <a:path w="3217846" h="2501875">
                <a:moveTo>
                  <a:pt x="0" y="0"/>
                </a:moveTo>
                <a:lnTo>
                  <a:pt x="3217846" y="0"/>
                </a:lnTo>
                <a:lnTo>
                  <a:pt x="3217846" y="2501875"/>
                </a:lnTo>
                <a:lnTo>
                  <a:pt x="0" y="25018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028971" y="4582421"/>
            <a:ext cx="6018034" cy="28575"/>
          </a:xfrm>
          <a:prstGeom prst="line">
            <a:avLst/>
          </a:prstGeom>
          <a:ln w="57150" cap="flat">
            <a:solidFill>
              <a:srgbClr val="7994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4384" y="599709"/>
            <a:ext cx="14072064" cy="1099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8959"/>
              </a:lnSpc>
              <a:spcBef>
                <a:spcPct val="0"/>
              </a:spcBef>
            </a:pPr>
            <a:r>
              <a:rPr lang="en-US" sz="6399" dirty="0" err="1">
                <a:solidFill>
                  <a:srgbClr val="000000"/>
                </a:solidFill>
                <a:latin typeface="Cormorant Garamond Bold Italics"/>
              </a:rPr>
              <a:t>ƯU</a:t>
            </a:r>
            <a:r>
              <a:rPr lang="en-US" sz="6399" dirty="0">
                <a:solidFill>
                  <a:srgbClr val="000000"/>
                </a:solidFill>
                <a:latin typeface="Cormorant Garamond Bold Italics"/>
              </a:rPr>
              <a:t> </a:t>
            </a:r>
            <a:r>
              <a:rPr lang="en-US" sz="6399" dirty="0" err="1">
                <a:solidFill>
                  <a:srgbClr val="000000"/>
                </a:solidFill>
                <a:latin typeface="Cormorant Garamond Bold Italics"/>
              </a:rPr>
              <a:t>ĐIỂM</a:t>
            </a:r>
            <a:endParaRPr lang="en-US" sz="6399" dirty="0">
              <a:solidFill>
                <a:srgbClr val="000000"/>
              </a:solidFill>
              <a:latin typeface="Cormorant Garamond Bold Itali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971" y="2422151"/>
            <a:ext cx="6018034" cy="1961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dirty="0">
                <a:solidFill>
                  <a:srgbClr val="000000"/>
                </a:solidFill>
                <a:latin typeface="Quicksand"/>
              </a:rPr>
              <a:t>Giao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diện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người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dùng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được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thiết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kế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đơn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giản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,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trực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quan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,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dễ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hiểu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.</a:t>
            </a:r>
          </a:p>
          <a:p>
            <a:pPr marL="0" lvl="0" indent="0" algn="just">
              <a:lnSpc>
                <a:spcPts val="3919"/>
              </a:lnSpc>
              <a:spcBef>
                <a:spcPct val="0"/>
              </a:spcBef>
            </a:pPr>
            <a:r>
              <a:rPr lang="en-US" sz="2799" dirty="0" err="1">
                <a:solidFill>
                  <a:srgbClr val="000000"/>
                </a:solidFill>
                <a:latin typeface="Quicksand"/>
              </a:rPr>
              <a:t>Dễ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dàng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thay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đổi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các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nội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dung,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hình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ảnh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,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bài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viết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trên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Website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971" y="1951987"/>
            <a:ext cx="6018034" cy="49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4059"/>
              </a:lnSpc>
              <a:spcBef>
                <a:spcPct val="0"/>
              </a:spcBef>
            </a:pPr>
            <a:r>
              <a:rPr lang="en-US" sz="2899" dirty="0">
                <a:solidFill>
                  <a:srgbClr val="000000"/>
                </a:solidFill>
                <a:latin typeface="Quicksand Bold"/>
              </a:rPr>
              <a:t>Giao </a:t>
            </a:r>
            <a:r>
              <a:rPr lang="en-US" sz="2899" dirty="0" err="1">
                <a:solidFill>
                  <a:srgbClr val="000000"/>
                </a:solidFill>
                <a:latin typeface="Quicksand Bold"/>
              </a:rPr>
              <a:t>diện</a:t>
            </a:r>
            <a:r>
              <a:rPr lang="en-US" sz="2899" dirty="0">
                <a:solidFill>
                  <a:srgbClr val="000000"/>
                </a:solidFill>
                <a:latin typeface="Quicksand Bold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Quicksand Bold"/>
              </a:rPr>
              <a:t>thân</a:t>
            </a:r>
            <a:r>
              <a:rPr lang="en-US" sz="2899" dirty="0">
                <a:solidFill>
                  <a:srgbClr val="000000"/>
                </a:solidFill>
                <a:latin typeface="Quicksand Bold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Quicksand Bold"/>
              </a:rPr>
              <a:t>thiện</a:t>
            </a:r>
            <a:r>
              <a:rPr lang="en-US" sz="2899" dirty="0">
                <a:solidFill>
                  <a:srgbClr val="000000"/>
                </a:solidFill>
                <a:latin typeface="Quicksand Bold"/>
              </a:rPr>
              <a:t>, </a:t>
            </a:r>
            <a:r>
              <a:rPr lang="en-US" sz="2899" dirty="0" err="1">
                <a:solidFill>
                  <a:srgbClr val="000000"/>
                </a:solidFill>
                <a:latin typeface="Quicksand Bold"/>
              </a:rPr>
              <a:t>dễ</a:t>
            </a:r>
            <a:r>
              <a:rPr lang="en-US" sz="2899" dirty="0">
                <a:solidFill>
                  <a:srgbClr val="000000"/>
                </a:solidFill>
                <a:latin typeface="Quicksand Bold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Quicksand Bold"/>
              </a:rPr>
              <a:t>sử</a:t>
            </a:r>
            <a:r>
              <a:rPr lang="en-US" sz="2899" dirty="0">
                <a:solidFill>
                  <a:srgbClr val="000000"/>
                </a:solidFill>
                <a:latin typeface="Quicksand Bold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Quicksand Bold"/>
              </a:rPr>
              <a:t>dụng</a:t>
            </a:r>
            <a:endParaRPr lang="en-US" sz="2899" dirty="0">
              <a:solidFill>
                <a:srgbClr val="000000"/>
              </a:solidFill>
              <a:latin typeface="Quicksand Bold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5579303" y="714009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024384" y="9529723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1028836" y="8043746"/>
            <a:ext cx="6018034" cy="28575"/>
          </a:xfrm>
          <a:prstGeom prst="line">
            <a:avLst/>
          </a:prstGeom>
          <a:ln w="57150" cap="flat">
            <a:solidFill>
              <a:srgbClr val="7994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028700" y="5723014"/>
            <a:ext cx="6018034" cy="1461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800" dirty="0" err="1">
                <a:solidFill>
                  <a:srgbClr val="000000"/>
                </a:solidFill>
                <a:latin typeface="Quicksand" panose="020B0604020202020204" charset="0"/>
              </a:rPr>
              <a:t>Hệ</a:t>
            </a:r>
            <a:r>
              <a:rPr lang="en-US" sz="2800" dirty="0">
                <a:solidFill>
                  <a:srgbClr val="000000"/>
                </a:solidFill>
                <a:latin typeface="Quicksand" panose="020B060402020202020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Quicksand" panose="020B0604020202020204" charset="0"/>
              </a:rPr>
              <a:t>thống</a:t>
            </a:r>
            <a:r>
              <a:rPr lang="en-US" sz="2800" dirty="0">
                <a:solidFill>
                  <a:srgbClr val="000000"/>
                </a:solidFill>
                <a:latin typeface="Quicksand" panose="020B060402020202020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Quicksand" panose="020B0604020202020204" charset="0"/>
              </a:rPr>
              <a:t>được</a:t>
            </a:r>
            <a:r>
              <a:rPr lang="en-US" sz="2800" dirty="0">
                <a:solidFill>
                  <a:srgbClr val="000000"/>
                </a:solidFill>
                <a:latin typeface="Quicksand" panose="020B0604020202020204" charset="0"/>
              </a:rPr>
              <a:t> T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Quicksand" panose="020B0604020202020204" charset="0"/>
              </a:rPr>
              <a:t>rung </a:t>
            </a:r>
            <a:r>
              <a:rPr lang="en-US" sz="2800" b="1" i="0" dirty="0" err="1">
                <a:solidFill>
                  <a:srgbClr val="000000"/>
                </a:solidFill>
                <a:effectLst/>
                <a:latin typeface="Quicksand" panose="020B0604020202020204" charset="0"/>
              </a:rPr>
              <a:t>tâm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Quicksand" panose="020B0604020202020204" charset="0"/>
              </a:rPr>
              <a:t> </a:t>
            </a:r>
            <a:r>
              <a:rPr lang="en-US" sz="2800" b="1" i="0" dirty="0" err="1">
                <a:solidFill>
                  <a:srgbClr val="000000"/>
                </a:solidFill>
                <a:effectLst/>
                <a:latin typeface="Quicksand" panose="020B0604020202020204" charset="0"/>
              </a:rPr>
              <a:t>Giám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Quicksand" panose="020B0604020202020204" charset="0"/>
              </a:rPr>
              <a:t> </a:t>
            </a:r>
            <a:r>
              <a:rPr lang="en-US" sz="2800" b="1" i="0" dirty="0" err="1">
                <a:solidFill>
                  <a:srgbClr val="000000"/>
                </a:solidFill>
                <a:effectLst/>
                <a:latin typeface="Quicksand" panose="020B0604020202020204" charset="0"/>
              </a:rPr>
              <a:t>sát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Quicksand" panose="020B0604020202020204" charset="0"/>
              </a:rPr>
              <a:t> an </a:t>
            </a:r>
            <a:r>
              <a:rPr lang="en-US" sz="2800" b="1" i="0" dirty="0" err="1">
                <a:solidFill>
                  <a:srgbClr val="000000"/>
                </a:solidFill>
                <a:effectLst/>
                <a:latin typeface="Quicksand" panose="020B0604020202020204" charset="0"/>
              </a:rPr>
              <a:t>toàn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Quicksand" panose="020B0604020202020204" charset="0"/>
              </a:rPr>
              <a:t> </a:t>
            </a:r>
            <a:r>
              <a:rPr lang="en-US" sz="2800" b="1" i="0" dirty="0" err="1">
                <a:solidFill>
                  <a:srgbClr val="000000"/>
                </a:solidFill>
                <a:effectLst/>
                <a:latin typeface="Quicksand" panose="020B0604020202020204" charset="0"/>
              </a:rPr>
              <a:t>không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Quicksand" panose="020B0604020202020204" charset="0"/>
              </a:rPr>
              <a:t> </a:t>
            </a:r>
            <a:r>
              <a:rPr lang="en-US" sz="2800" b="1" i="0" dirty="0" err="1">
                <a:solidFill>
                  <a:srgbClr val="000000"/>
                </a:solidFill>
                <a:effectLst/>
                <a:latin typeface="Quicksand" panose="020B0604020202020204" charset="0"/>
              </a:rPr>
              <a:t>gian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Quicksand" panose="020B0604020202020204" charset="0"/>
              </a:rPr>
              <a:t> </a:t>
            </a:r>
            <a:r>
              <a:rPr lang="en-US" sz="2800" b="1" i="0" dirty="0" err="1">
                <a:solidFill>
                  <a:srgbClr val="000000"/>
                </a:solidFill>
                <a:effectLst/>
                <a:latin typeface="Quicksand" panose="020B0604020202020204" charset="0"/>
              </a:rPr>
              <a:t>mạng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Quicksand" panose="020B0604020202020204" charset="0"/>
              </a:rPr>
              <a:t> </a:t>
            </a:r>
            <a:r>
              <a:rPr lang="en-US" sz="2800" b="1" i="0" dirty="0" err="1">
                <a:solidFill>
                  <a:srgbClr val="000000"/>
                </a:solidFill>
                <a:effectLst/>
                <a:latin typeface="Quicksand" panose="020B0604020202020204" charset="0"/>
              </a:rPr>
              <a:t>quốc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Quicksand" panose="020B0604020202020204" charset="0"/>
              </a:rPr>
              <a:t> </a:t>
            </a:r>
            <a:r>
              <a:rPr lang="en-US" sz="2800" b="1" i="0" dirty="0" err="1">
                <a:solidFill>
                  <a:srgbClr val="000000"/>
                </a:solidFill>
                <a:effectLst/>
                <a:latin typeface="Quicksand" panose="020B0604020202020204" charset="0"/>
              </a:rPr>
              <a:t>gia</a:t>
            </a:r>
            <a:r>
              <a:rPr lang="en-US" sz="2800" dirty="0">
                <a:solidFill>
                  <a:srgbClr val="000000"/>
                </a:solidFill>
                <a:latin typeface="Quicksand" panose="020B060402020202020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Quicksand" panose="020B0604020202020204" charset="0"/>
              </a:rPr>
              <a:t>kiểm</a:t>
            </a:r>
            <a:r>
              <a:rPr lang="en-US" sz="2800" dirty="0">
                <a:solidFill>
                  <a:srgbClr val="000000"/>
                </a:solidFill>
                <a:latin typeface="Quicksand" panose="020B060402020202020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Quicksand" panose="020B0604020202020204" charset="0"/>
              </a:rPr>
              <a:t>tra</a:t>
            </a:r>
            <a:r>
              <a:rPr lang="en-US" sz="2800" dirty="0">
                <a:solidFill>
                  <a:srgbClr val="000000"/>
                </a:solidFill>
                <a:latin typeface="Quicksand" panose="020B0604020202020204" charset="0"/>
              </a:rPr>
              <a:t>  </a:t>
            </a:r>
            <a:r>
              <a:rPr lang="en-US" sz="2800" dirty="0" err="1">
                <a:solidFill>
                  <a:srgbClr val="000000"/>
                </a:solidFill>
                <a:latin typeface="Quicksand" panose="020B0604020202020204" charset="0"/>
              </a:rPr>
              <a:t>hàng</a:t>
            </a:r>
            <a:r>
              <a:rPr lang="en-US" sz="2800" dirty="0">
                <a:solidFill>
                  <a:srgbClr val="000000"/>
                </a:solidFill>
                <a:latin typeface="Quicksand" panose="020B060402020202020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Quicksand" panose="020B0604020202020204" charset="0"/>
              </a:rPr>
              <a:t>tuần</a:t>
            </a:r>
            <a:r>
              <a:rPr lang="en-US" sz="2800" dirty="0">
                <a:solidFill>
                  <a:srgbClr val="000000"/>
                </a:solidFill>
                <a:latin typeface="Quicksand" panose="020B060402020202020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Quicksand" panose="020B0604020202020204" charset="0"/>
              </a:rPr>
              <a:t>về</a:t>
            </a:r>
            <a:r>
              <a:rPr lang="en-US" sz="2800" dirty="0">
                <a:solidFill>
                  <a:srgbClr val="000000"/>
                </a:solidFill>
                <a:latin typeface="Quicksand" panose="020B060402020202020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Quicksand" panose="020B0604020202020204" charset="0"/>
              </a:rPr>
              <a:t>bảo</a:t>
            </a:r>
            <a:r>
              <a:rPr lang="en-US" sz="2800" dirty="0">
                <a:solidFill>
                  <a:srgbClr val="000000"/>
                </a:solidFill>
                <a:latin typeface="Quicksand" panose="020B060402020202020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Quicksand" panose="020B0604020202020204" charset="0"/>
              </a:rPr>
              <a:t>mật</a:t>
            </a:r>
            <a:r>
              <a:rPr lang="en-US" sz="2800" dirty="0">
                <a:solidFill>
                  <a:srgbClr val="000000"/>
                </a:solidFill>
                <a:latin typeface="Quicksand" panose="020B0604020202020204" charset="0"/>
              </a:rPr>
              <a:t>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5252850"/>
            <a:ext cx="6018034" cy="49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4059"/>
              </a:lnSpc>
              <a:spcBef>
                <a:spcPct val="0"/>
              </a:spcBef>
            </a:pPr>
            <a:r>
              <a:rPr lang="en-US" sz="2899" dirty="0" err="1">
                <a:solidFill>
                  <a:srgbClr val="000000"/>
                </a:solidFill>
                <a:latin typeface="Quicksand Bold"/>
              </a:rPr>
              <a:t>Chứng</a:t>
            </a:r>
            <a:r>
              <a:rPr lang="en-US" sz="2899" dirty="0">
                <a:solidFill>
                  <a:srgbClr val="000000"/>
                </a:solidFill>
                <a:latin typeface="Quicksand Bold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Quicksand Bold"/>
              </a:rPr>
              <a:t>chỉ</a:t>
            </a:r>
            <a:r>
              <a:rPr lang="en-US" sz="2899" dirty="0">
                <a:solidFill>
                  <a:srgbClr val="000000"/>
                </a:solidFill>
                <a:latin typeface="Quicksand Bold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Quicksand Bold"/>
              </a:rPr>
              <a:t>tín</a:t>
            </a:r>
            <a:r>
              <a:rPr lang="en-US" sz="2899" dirty="0">
                <a:solidFill>
                  <a:srgbClr val="000000"/>
                </a:solidFill>
                <a:latin typeface="Quicksand Bold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Quicksand Bold"/>
              </a:rPr>
              <a:t>nhiệm</a:t>
            </a:r>
            <a:r>
              <a:rPr lang="en-US" sz="2899" dirty="0">
                <a:solidFill>
                  <a:srgbClr val="000000"/>
                </a:solidFill>
                <a:latin typeface="Quicksand Bold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Quicksand Bold"/>
              </a:rPr>
              <a:t>mạng</a:t>
            </a:r>
            <a:r>
              <a:rPr lang="en-US" sz="2899" dirty="0">
                <a:solidFill>
                  <a:srgbClr val="000000"/>
                </a:solidFill>
                <a:latin typeface="Quicksand Bold"/>
              </a:rPr>
              <a:t> NCSC</a:t>
            </a:r>
          </a:p>
        </p:txBody>
      </p:sp>
      <p:sp>
        <p:nvSpPr>
          <p:cNvPr id="12" name="AutoShape 12"/>
          <p:cNvSpPr/>
          <p:nvPr/>
        </p:nvSpPr>
        <p:spPr>
          <a:xfrm>
            <a:off x="11241130" y="5147299"/>
            <a:ext cx="6018034" cy="28575"/>
          </a:xfrm>
          <a:prstGeom prst="line">
            <a:avLst/>
          </a:prstGeom>
          <a:ln w="57150" cap="flat">
            <a:solidFill>
              <a:srgbClr val="7994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1240859" y="2741889"/>
            <a:ext cx="6018034" cy="1961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dirty="0" err="1">
                <a:solidFill>
                  <a:srgbClr val="000000"/>
                </a:solidFill>
                <a:latin typeface="Quicksand"/>
              </a:rPr>
              <a:t>Kết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nối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lấy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dữ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liệu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tự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đồng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từ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Cổng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thông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tin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điện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tử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giáo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dục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của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Tỉnh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để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có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các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bài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viết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tin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tức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–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sự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kiện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mới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mà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không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cần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nhân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sự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đăng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tin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240858" y="2005876"/>
            <a:ext cx="6208941" cy="4835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4059"/>
              </a:lnSpc>
              <a:spcBef>
                <a:spcPct val="0"/>
              </a:spcBef>
            </a:pPr>
            <a:r>
              <a:rPr lang="en-US" sz="2899" dirty="0" err="1">
                <a:solidFill>
                  <a:srgbClr val="000000"/>
                </a:solidFill>
                <a:latin typeface="Quicksand Bold"/>
              </a:rPr>
              <a:t>Dữ</a:t>
            </a:r>
            <a:r>
              <a:rPr lang="en-US" sz="2899" dirty="0">
                <a:solidFill>
                  <a:srgbClr val="000000"/>
                </a:solidFill>
                <a:latin typeface="Quicksand Bold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Quicksand Bold"/>
              </a:rPr>
              <a:t>liệu</a:t>
            </a:r>
            <a:r>
              <a:rPr lang="en-US" sz="2899" dirty="0">
                <a:solidFill>
                  <a:srgbClr val="000000"/>
                </a:solidFill>
                <a:latin typeface="Quicksand Bold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Quicksand Bold"/>
              </a:rPr>
              <a:t>được</a:t>
            </a:r>
            <a:r>
              <a:rPr lang="en-US" sz="2899" dirty="0">
                <a:solidFill>
                  <a:srgbClr val="000000"/>
                </a:solidFill>
                <a:latin typeface="Quicksand Bold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Quicksand Bold"/>
              </a:rPr>
              <a:t>cập</a:t>
            </a:r>
            <a:r>
              <a:rPr lang="en-US" sz="2899" dirty="0">
                <a:solidFill>
                  <a:srgbClr val="000000"/>
                </a:solidFill>
                <a:latin typeface="Quicksand Bold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Quicksand Bold"/>
              </a:rPr>
              <a:t>nhật</a:t>
            </a:r>
            <a:r>
              <a:rPr lang="en-US" sz="2899" dirty="0">
                <a:solidFill>
                  <a:srgbClr val="000000"/>
                </a:solidFill>
                <a:latin typeface="Quicksand Bold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Quicksand Bold"/>
              </a:rPr>
              <a:t>mới</a:t>
            </a:r>
            <a:r>
              <a:rPr lang="en-US" sz="2899" dirty="0">
                <a:solidFill>
                  <a:srgbClr val="000000"/>
                </a:solidFill>
                <a:latin typeface="Quicksand Bold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Quicksand Bold"/>
              </a:rPr>
              <a:t>tự</a:t>
            </a:r>
            <a:r>
              <a:rPr lang="en-US" sz="2899" dirty="0">
                <a:solidFill>
                  <a:srgbClr val="000000"/>
                </a:solidFill>
                <a:latin typeface="Quicksand Bold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Quicksand Bold"/>
              </a:rPr>
              <a:t>động</a:t>
            </a:r>
            <a:endParaRPr lang="en-US" sz="2899" dirty="0">
              <a:solidFill>
                <a:srgbClr val="000000"/>
              </a:solidFill>
              <a:latin typeface="Quicksand Bold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11240859" y="7986596"/>
            <a:ext cx="6018034" cy="28575"/>
          </a:xfrm>
          <a:prstGeom prst="line">
            <a:avLst/>
          </a:prstGeom>
          <a:ln w="57150" cap="flat">
            <a:solidFill>
              <a:srgbClr val="7994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1240995" y="6817301"/>
            <a:ext cx="6018034" cy="98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Quicksand"/>
              </a:rPr>
              <a:t>Sử dụng biện pháp bảo mật cao như xác thực 2 yếu tố, mã hóa dữ liệu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240995" y="6347137"/>
            <a:ext cx="6018034" cy="49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Quicksand Bold"/>
              </a:rPr>
              <a:t>Hệ thống có tính bảo mật cao</a:t>
            </a:r>
          </a:p>
        </p:txBody>
      </p:sp>
      <p:sp>
        <p:nvSpPr>
          <p:cNvPr id="18" name="Freeform 18"/>
          <p:cNvSpPr/>
          <p:nvPr/>
        </p:nvSpPr>
        <p:spPr>
          <a:xfrm>
            <a:off x="14596199" y="8732362"/>
            <a:ext cx="2677507" cy="1051876"/>
          </a:xfrm>
          <a:custGeom>
            <a:avLst/>
            <a:gdLst/>
            <a:ahLst/>
            <a:cxnLst/>
            <a:rect l="l" t="t" r="r" b="b"/>
            <a:pathLst>
              <a:path w="2677507" h="1051876">
                <a:moveTo>
                  <a:pt x="0" y="0"/>
                </a:moveTo>
                <a:lnTo>
                  <a:pt x="2677507" y="0"/>
                </a:lnTo>
                <a:lnTo>
                  <a:pt x="2677507" y="1051876"/>
                </a:lnTo>
                <a:lnTo>
                  <a:pt x="0" y="10518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44082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661723" y="4247056"/>
            <a:ext cx="3217846" cy="2501875"/>
          </a:xfrm>
          <a:custGeom>
            <a:avLst/>
            <a:gdLst/>
            <a:ahLst/>
            <a:cxnLst/>
            <a:rect l="l" t="t" r="r" b="b"/>
            <a:pathLst>
              <a:path w="3217846" h="2501875">
                <a:moveTo>
                  <a:pt x="0" y="0"/>
                </a:moveTo>
                <a:lnTo>
                  <a:pt x="3217846" y="0"/>
                </a:lnTo>
                <a:lnTo>
                  <a:pt x="3217846" y="2501875"/>
                </a:lnTo>
                <a:lnTo>
                  <a:pt x="0" y="25018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028971" y="4582421"/>
            <a:ext cx="6018034" cy="28575"/>
          </a:xfrm>
          <a:prstGeom prst="line">
            <a:avLst/>
          </a:prstGeom>
          <a:ln w="57150" cap="flat">
            <a:solidFill>
              <a:srgbClr val="7994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4384" y="599709"/>
            <a:ext cx="14072064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000000"/>
                </a:solidFill>
                <a:latin typeface="Cormorant Garamond Bold Italics"/>
              </a:rPr>
              <a:t>GIỚI THIỆU - ƯU ĐIỂM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971" y="2422151"/>
            <a:ext cx="6018034" cy="1961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919"/>
              </a:lnSpc>
              <a:spcBef>
                <a:spcPct val="0"/>
              </a:spcBef>
            </a:pPr>
            <a:r>
              <a:rPr lang="en-US" sz="2799" dirty="0">
                <a:solidFill>
                  <a:srgbClr val="000000"/>
                </a:solidFill>
                <a:latin typeface="Quicksand"/>
              </a:rPr>
              <a:t>Website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được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xây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dựng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để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hoạt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động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trên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các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thiết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bị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khác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nhau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: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Máy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tính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cá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nhân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,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điện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thoại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,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máy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tính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bảng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…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971" y="1951987"/>
            <a:ext cx="6632752" cy="4835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4059"/>
              </a:lnSpc>
              <a:spcBef>
                <a:spcPct val="0"/>
              </a:spcBef>
            </a:pPr>
            <a:r>
              <a:rPr lang="en-US" sz="2899" dirty="0" err="1">
                <a:solidFill>
                  <a:srgbClr val="000000"/>
                </a:solidFill>
                <a:latin typeface="Quicksand Bold"/>
              </a:rPr>
              <a:t>Tương</a:t>
            </a:r>
            <a:r>
              <a:rPr lang="en-US" sz="2899" dirty="0">
                <a:solidFill>
                  <a:srgbClr val="000000"/>
                </a:solidFill>
                <a:latin typeface="Quicksand Bold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Quicksand Bold"/>
              </a:rPr>
              <a:t>thích</a:t>
            </a:r>
            <a:r>
              <a:rPr lang="en-US" sz="2899" dirty="0">
                <a:solidFill>
                  <a:srgbClr val="000000"/>
                </a:solidFill>
                <a:latin typeface="Quicksand Bold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Quicksand Bold"/>
              </a:rPr>
              <a:t>trên</a:t>
            </a:r>
            <a:r>
              <a:rPr lang="en-US" sz="2899" dirty="0">
                <a:solidFill>
                  <a:srgbClr val="000000"/>
                </a:solidFill>
                <a:latin typeface="Quicksand Bold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Quicksand Bold"/>
              </a:rPr>
              <a:t>nhiều</a:t>
            </a:r>
            <a:r>
              <a:rPr lang="en-US" sz="2899" dirty="0">
                <a:solidFill>
                  <a:srgbClr val="000000"/>
                </a:solidFill>
                <a:latin typeface="Quicksand Bold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Quicksand Bold"/>
              </a:rPr>
              <a:t>loại</a:t>
            </a:r>
            <a:r>
              <a:rPr lang="en-US" sz="2899" dirty="0">
                <a:solidFill>
                  <a:srgbClr val="000000"/>
                </a:solidFill>
                <a:latin typeface="Quicksand Bold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Quicksand Bold"/>
              </a:rPr>
              <a:t>thiết</a:t>
            </a:r>
            <a:r>
              <a:rPr lang="en-US" sz="2899" dirty="0">
                <a:solidFill>
                  <a:srgbClr val="000000"/>
                </a:solidFill>
                <a:latin typeface="Quicksand Bold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Quicksand Bold"/>
              </a:rPr>
              <a:t>bị</a:t>
            </a:r>
            <a:endParaRPr lang="en-US" sz="2899" dirty="0">
              <a:solidFill>
                <a:srgbClr val="000000"/>
              </a:solidFill>
              <a:latin typeface="Quicksand Bold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5579303" y="714009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024384" y="9529723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1024520" y="8043746"/>
            <a:ext cx="6018034" cy="28575"/>
          </a:xfrm>
          <a:prstGeom prst="line">
            <a:avLst/>
          </a:prstGeom>
          <a:ln w="57150" cap="flat">
            <a:solidFill>
              <a:srgbClr val="7994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028971" y="6337612"/>
            <a:ext cx="6018034" cy="1481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919"/>
              </a:lnSpc>
              <a:spcBef>
                <a:spcPct val="0"/>
              </a:spcBef>
            </a:pPr>
            <a:r>
              <a:rPr lang="en-US" sz="2799" dirty="0" err="1">
                <a:solidFill>
                  <a:srgbClr val="000000"/>
                </a:solidFill>
                <a:latin typeface="Quicksand"/>
              </a:rPr>
              <a:t>Dữ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liệu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được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sao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lưu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định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kỳ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để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đảm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bảo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an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toàn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và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khả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năng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khôi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phục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dữ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liệu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khi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"/>
              </a:rPr>
              <a:t>cần</a:t>
            </a:r>
            <a:r>
              <a:rPr lang="en-US" sz="2799" dirty="0">
                <a:solidFill>
                  <a:srgbClr val="000000"/>
                </a:solidFill>
                <a:latin typeface="Quicksand"/>
              </a:rPr>
              <a:t>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5252850"/>
            <a:ext cx="6018034" cy="1012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4059"/>
              </a:lnSpc>
              <a:spcBef>
                <a:spcPct val="0"/>
              </a:spcBef>
            </a:pPr>
            <a:r>
              <a:rPr lang="en-US" sz="2899" dirty="0" err="1">
                <a:solidFill>
                  <a:srgbClr val="000000"/>
                </a:solidFill>
                <a:latin typeface="Quicksand Bold"/>
              </a:rPr>
              <a:t>Được</a:t>
            </a:r>
            <a:r>
              <a:rPr lang="en-US" sz="2899" dirty="0">
                <a:solidFill>
                  <a:srgbClr val="000000"/>
                </a:solidFill>
                <a:latin typeface="Quicksand Bold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Quicksand Bold"/>
              </a:rPr>
              <a:t>sao</a:t>
            </a:r>
            <a:r>
              <a:rPr lang="en-US" sz="2899" dirty="0">
                <a:solidFill>
                  <a:srgbClr val="000000"/>
                </a:solidFill>
                <a:latin typeface="Quicksand Bold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Quicksand Bold"/>
              </a:rPr>
              <a:t>lưu</a:t>
            </a:r>
            <a:r>
              <a:rPr lang="en-US" sz="2899" dirty="0">
                <a:solidFill>
                  <a:srgbClr val="000000"/>
                </a:solidFill>
                <a:latin typeface="Quicksand Bold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Quicksand Bold"/>
              </a:rPr>
              <a:t>dữ</a:t>
            </a:r>
            <a:r>
              <a:rPr lang="en-US" sz="2899" dirty="0">
                <a:solidFill>
                  <a:srgbClr val="000000"/>
                </a:solidFill>
                <a:latin typeface="Quicksand Bold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Quicksand Bold"/>
              </a:rPr>
              <a:t>liệu</a:t>
            </a:r>
            <a:r>
              <a:rPr lang="en-US" sz="2899" dirty="0">
                <a:solidFill>
                  <a:srgbClr val="000000"/>
                </a:solidFill>
                <a:latin typeface="Quicksand Bold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Quicksand Bold"/>
              </a:rPr>
              <a:t>thường</a:t>
            </a:r>
            <a:r>
              <a:rPr lang="en-US" sz="2899" dirty="0">
                <a:solidFill>
                  <a:srgbClr val="000000"/>
                </a:solidFill>
                <a:latin typeface="Quicksand Bold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Quicksand Bold"/>
              </a:rPr>
              <a:t>xuyên</a:t>
            </a:r>
            <a:endParaRPr lang="en-US" sz="2899" dirty="0">
              <a:solidFill>
                <a:srgbClr val="000000"/>
              </a:solidFill>
              <a:latin typeface="Quicksand Bold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1499101" y="7330035"/>
            <a:ext cx="6018034" cy="28575"/>
          </a:xfrm>
          <a:prstGeom prst="line">
            <a:avLst/>
          </a:prstGeom>
          <a:ln w="57150" cap="flat">
            <a:solidFill>
              <a:srgbClr val="7994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1498694" y="4021816"/>
            <a:ext cx="6018034" cy="2967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</a:pPr>
            <a:r>
              <a:rPr lang="vi-VN" sz="2799" dirty="0">
                <a:solidFill>
                  <a:srgbClr val="000000"/>
                </a:solidFill>
                <a:latin typeface="Quicksand"/>
              </a:rPr>
              <a:t>Tối ưu hóa để chuẩn SEO </a:t>
            </a:r>
            <a:r>
              <a:rPr lang="vi-VN" sz="2799" dirty="0" err="1">
                <a:solidFill>
                  <a:srgbClr val="000000"/>
                </a:solidFill>
                <a:latin typeface="Quicksand"/>
              </a:rPr>
              <a:t>website</a:t>
            </a:r>
            <a:r>
              <a:rPr lang="vi-VN" sz="2799" dirty="0">
                <a:solidFill>
                  <a:srgbClr val="000000"/>
                </a:solidFill>
                <a:latin typeface="Quicksand"/>
              </a:rPr>
              <a:t> theo đúng những quy tắc mà các công cụ tìm kiếm đề ra nhằm giúp </a:t>
            </a:r>
            <a:r>
              <a:rPr lang="vi-VN" sz="2799" dirty="0" err="1">
                <a:solidFill>
                  <a:srgbClr val="000000"/>
                </a:solidFill>
                <a:latin typeface="Quicksand"/>
              </a:rPr>
              <a:t>website</a:t>
            </a:r>
            <a:r>
              <a:rPr lang="vi-VN" sz="2799" dirty="0">
                <a:solidFill>
                  <a:srgbClr val="000000"/>
                </a:solidFill>
                <a:latin typeface="Quicksand"/>
              </a:rPr>
              <a:t> của nhà trường trở nên thân thiện hơn với các công cụ này như </a:t>
            </a:r>
            <a:r>
              <a:rPr lang="vi-VN" sz="2799" dirty="0" err="1">
                <a:solidFill>
                  <a:srgbClr val="000000"/>
                </a:solidFill>
                <a:latin typeface="Quicksand"/>
              </a:rPr>
              <a:t>google</a:t>
            </a:r>
            <a:endParaRPr lang="en-US" sz="2799" dirty="0">
              <a:solidFill>
                <a:srgbClr val="000000"/>
              </a:solidFill>
              <a:latin typeface="Quicksan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1498965" y="3551652"/>
            <a:ext cx="6018034" cy="49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4059"/>
              </a:lnSpc>
              <a:spcBef>
                <a:spcPct val="0"/>
              </a:spcBef>
            </a:pPr>
            <a:r>
              <a:rPr lang="vi-VN" sz="2899" dirty="0">
                <a:solidFill>
                  <a:srgbClr val="000000"/>
                </a:solidFill>
                <a:latin typeface="Quicksand Bold"/>
              </a:rPr>
              <a:t>Tối ưu hóa để chuẩn SEO </a:t>
            </a:r>
            <a:r>
              <a:rPr lang="vi-VN" sz="2899" dirty="0" err="1">
                <a:solidFill>
                  <a:srgbClr val="000000"/>
                </a:solidFill>
                <a:latin typeface="Quicksand Bold"/>
              </a:rPr>
              <a:t>website</a:t>
            </a:r>
            <a:endParaRPr lang="en-US" sz="2899" dirty="0">
              <a:solidFill>
                <a:srgbClr val="000000"/>
              </a:solidFill>
              <a:latin typeface="Quicksand Bold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14596199" y="8732362"/>
            <a:ext cx="2677507" cy="1051876"/>
          </a:xfrm>
          <a:custGeom>
            <a:avLst/>
            <a:gdLst/>
            <a:ahLst/>
            <a:cxnLst/>
            <a:rect l="l" t="t" r="r" b="b"/>
            <a:pathLst>
              <a:path w="2677507" h="1051876">
                <a:moveTo>
                  <a:pt x="0" y="0"/>
                </a:moveTo>
                <a:lnTo>
                  <a:pt x="2677507" y="0"/>
                </a:lnTo>
                <a:lnTo>
                  <a:pt x="2677507" y="1051876"/>
                </a:lnTo>
                <a:lnTo>
                  <a:pt x="0" y="10518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44082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767060" y="990600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590152" y="2082428"/>
            <a:ext cx="12319093" cy="7175872"/>
          </a:xfrm>
          <a:custGeom>
            <a:avLst/>
            <a:gdLst/>
            <a:ahLst/>
            <a:cxnLst/>
            <a:rect l="l" t="t" r="r" b="b"/>
            <a:pathLst>
              <a:path w="12319093" h="7175872">
                <a:moveTo>
                  <a:pt x="0" y="0"/>
                </a:moveTo>
                <a:lnTo>
                  <a:pt x="12319094" y="0"/>
                </a:lnTo>
                <a:lnTo>
                  <a:pt x="12319094" y="7175872"/>
                </a:lnTo>
                <a:lnTo>
                  <a:pt x="0" y="71758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599709"/>
            <a:ext cx="8115300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000000"/>
                </a:solidFill>
                <a:latin typeface="Cormorant Garamond Bold Italics"/>
              </a:rPr>
              <a:t>KIẾN TRÚC HỆ THỐNG</a:t>
            </a:r>
          </a:p>
        </p:txBody>
      </p:sp>
      <p:sp>
        <p:nvSpPr>
          <p:cNvPr id="5" name="Freeform 5"/>
          <p:cNvSpPr/>
          <p:nvPr/>
        </p:nvSpPr>
        <p:spPr>
          <a:xfrm>
            <a:off x="14596199" y="8732362"/>
            <a:ext cx="2677507" cy="1051876"/>
          </a:xfrm>
          <a:custGeom>
            <a:avLst/>
            <a:gdLst/>
            <a:ahLst/>
            <a:cxnLst/>
            <a:rect l="l" t="t" r="r" b="b"/>
            <a:pathLst>
              <a:path w="2677507" h="1051876">
                <a:moveTo>
                  <a:pt x="0" y="0"/>
                </a:moveTo>
                <a:lnTo>
                  <a:pt x="2677507" y="0"/>
                </a:lnTo>
                <a:lnTo>
                  <a:pt x="2677507" y="1051876"/>
                </a:lnTo>
                <a:lnTo>
                  <a:pt x="0" y="10518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408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4255219" y="5613214"/>
            <a:ext cx="2496932" cy="398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215"/>
              </a:lnSpc>
              <a:spcBef>
                <a:spcPct val="0"/>
              </a:spcBef>
            </a:pPr>
            <a:r>
              <a:rPr lang="en-US" sz="2296">
                <a:solidFill>
                  <a:srgbClr val="000000"/>
                </a:solidFill>
                <a:latin typeface="Roboto Bold"/>
              </a:rPr>
              <a:t>INTERNET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170732"/>
            <a:ext cx="2026963" cy="802005"/>
            <a:chOff x="0" y="0"/>
            <a:chExt cx="533850" cy="2112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3850" cy="211228"/>
            </a:xfrm>
            <a:custGeom>
              <a:avLst/>
              <a:gdLst/>
              <a:ahLst/>
              <a:cxnLst/>
              <a:rect l="l" t="t" r="r" b="b"/>
              <a:pathLst>
                <a:path w="533850" h="211228">
                  <a:moveTo>
                    <a:pt x="57292" y="0"/>
                  </a:moveTo>
                  <a:lnTo>
                    <a:pt x="476558" y="0"/>
                  </a:lnTo>
                  <a:cubicBezTo>
                    <a:pt x="491753" y="0"/>
                    <a:pt x="506326" y="6036"/>
                    <a:pt x="517070" y="16780"/>
                  </a:cubicBezTo>
                  <a:cubicBezTo>
                    <a:pt x="527814" y="27525"/>
                    <a:pt x="533850" y="42097"/>
                    <a:pt x="533850" y="57292"/>
                  </a:cubicBezTo>
                  <a:lnTo>
                    <a:pt x="533850" y="153936"/>
                  </a:lnTo>
                  <a:cubicBezTo>
                    <a:pt x="533850" y="169130"/>
                    <a:pt x="527814" y="183703"/>
                    <a:pt x="517070" y="194447"/>
                  </a:cubicBezTo>
                  <a:cubicBezTo>
                    <a:pt x="506326" y="205192"/>
                    <a:pt x="491753" y="211228"/>
                    <a:pt x="476558" y="211228"/>
                  </a:cubicBezTo>
                  <a:lnTo>
                    <a:pt x="57292" y="211228"/>
                  </a:lnTo>
                  <a:cubicBezTo>
                    <a:pt x="42097" y="211228"/>
                    <a:pt x="27525" y="205192"/>
                    <a:pt x="16780" y="194447"/>
                  </a:cubicBezTo>
                  <a:cubicBezTo>
                    <a:pt x="6036" y="183703"/>
                    <a:pt x="0" y="169130"/>
                    <a:pt x="0" y="153936"/>
                  </a:cubicBezTo>
                  <a:lnTo>
                    <a:pt x="0" y="57292"/>
                  </a:lnTo>
                  <a:cubicBezTo>
                    <a:pt x="0" y="42097"/>
                    <a:pt x="6036" y="27525"/>
                    <a:pt x="16780" y="16780"/>
                  </a:cubicBezTo>
                  <a:cubicBezTo>
                    <a:pt x="27525" y="6036"/>
                    <a:pt x="42097" y="0"/>
                    <a:pt x="57292" y="0"/>
                  </a:cubicBezTo>
                  <a:close/>
                </a:path>
              </a:pathLst>
            </a:custGeom>
            <a:solidFill>
              <a:srgbClr val="13538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533850" cy="239803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400">
                  <a:solidFill>
                    <a:srgbClr val="FFFFFF"/>
                  </a:solidFill>
                  <a:latin typeface="Aileron Bold"/>
                </a:rPr>
                <a:t>Giới thiệu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867231" y="2170732"/>
            <a:ext cx="2816960" cy="802005"/>
            <a:chOff x="0" y="0"/>
            <a:chExt cx="741915" cy="21122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41915" cy="211228"/>
            </a:xfrm>
            <a:custGeom>
              <a:avLst/>
              <a:gdLst/>
              <a:ahLst/>
              <a:cxnLst/>
              <a:rect l="l" t="t" r="r" b="b"/>
              <a:pathLst>
                <a:path w="741915" h="211228">
                  <a:moveTo>
                    <a:pt x="41225" y="0"/>
                  </a:moveTo>
                  <a:lnTo>
                    <a:pt x="700691" y="0"/>
                  </a:lnTo>
                  <a:cubicBezTo>
                    <a:pt x="723458" y="0"/>
                    <a:pt x="741915" y="18457"/>
                    <a:pt x="741915" y="41225"/>
                  </a:cubicBezTo>
                  <a:lnTo>
                    <a:pt x="741915" y="170003"/>
                  </a:lnTo>
                  <a:cubicBezTo>
                    <a:pt x="741915" y="192771"/>
                    <a:pt x="723458" y="211228"/>
                    <a:pt x="700691" y="211228"/>
                  </a:cubicBezTo>
                  <a:lnTo>
                    <a:pt x="41225" y="211228"/>
                  </a:lnTo>
                  <a:cubicBezTo>
                    <a:pt x="18457" y="211228"/>
                    <a:pt x="0" y="192771"/>
                    <a:pt x="0" y="170003"/>
                  </a:cubicBezTo>
                  <a:lnTo>
                    <a:pt x="0" y="41225"/>
                  </a:lnTo>
                  <a:cubicBezTo>
                    <a:pt x="0" y="18457"/>
                    <a:pt x="18457" y="0"/>
                    <a:pt x="41225" y="0"/>
                  </a:cubicBezTo>
                  <a:close/>
                </a:path>
              </a:pathLst>
            </a:custGeom>
            <a:solidFill>
              <a:srgbClr val="13538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741915" cy="239803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400">
                  <a:solidFill>
                    <a:srgbClr val="FFFFFF"/>
                  </a:solidFill>
                  <a:latin typeface="Aileron Bold"/>
                </a:rPr>
                <a:t>Cơ cấu tổ chức</a:t>
              </a:r>
            </a:p>
          </p:txBody>
        </p:sp>
      </p:grpSp>
      <p:sp>
        <p:nvSpPr>
          <p:cNvPr id="8" name="AutoShape 8"/>
          <p:cNvSpPr/>
          <p:nvPr/>
        </p:nvSpPr>
        <p:spPr>
          <a:xfrm flipH="1" flipV="1">
            <a:off x="5275711" y="2972737"/>
            <a:ext cx="0" cy="618632"/>
          </a:xfrm>
          <a:prstGeom prst="line">
            <a:avLst/>
          </a:prstGeom>
          <a:ln w="47625" cap="flat">
            <a:solidFill>
              <a:srgbClr val="13538A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8165917" y="2141119"/>
            <a:ext cx="3091742" cy="861231"/>
            <a:chOff x="0" y="0"/>
            <a:chExt cx="814286" cy="22682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4286" cy="226826"/>
            </a:xfrm>
            <a:custGeom>
              <a:avLst/>
              <a:gdLst/>
              <a:ahLst/>
              <a:cxnLst/>
              <a:rect l="l" t="t" r="r" b="b"/>
              <a:pathLst>
                <a:path w="814286" h="226826">
                  <a:moveTo>
                    <a:pt x="37561" y="0"/>
                  </a:moveTo>
                  <a:lnTo>
                    <a:pt x="776725" y="0"/>
                  </a:lnTo>
                  <a:cubicBezTo>
                    <a:pt x="786687" y="0"/>
                    <a:pt x="796240" y="3957"/>
                    <a:pt x="803284" y="11001"/>
                  </a:cubicBezTo>
                  <a:cubicBezTo>
                    <a:pt x="810329" y="18045"/>
                    <a:pt x="814286" y="27599"/>
                    <a:pt x="814286" y="37561"/>
                  </a:cubicBezTo>
                  <a:lnTo>
                    <a:pt x="814286" y="189265"/>
                  </a:lnTo>
                  <a:cubicBezTo>
                    <a:pt x="814286" y="199227"/>
                    <a:pt x="810329" y="208781"/>
                    <a:pt x="803284" y="215825"/>
                  </a:cubicBezTo>
                  <a:cubicBezTo>
                    <a:pt x="796240" y="222869"/>
                    <a:pt x="786687" y="226826"/>
                    <a:pt x="776725" y="226826"/>
                  </a:cubicBezTo>
                  <a:lnTo>
                    <a:pt x="37561" y="226826"/>
                  </a:lnTo>
                  <a:cubicBezTo>
                    <a:pt x="16817" y="226826"/>
                    <a:pt x="0" y="210010"/>
                    <a:pt x="0" y="189265"/>
                  </a:cubicBezTo>
                  <a:lnTo>
                    <a:pt x="0" y="37561"/>
                  </a:lnTo>
                  <a:cubicBezTo>
                    <a:pt x="0" y="27599"/>
                    <a:pt x="3957" y="18045"/>
                    <a:pt x="11001" y="11001"/>
                  </a:cubicBezTo>
                  <a:cubicBezTo>
                    <a:pt x="18045" y="3957"/>
                    <a:pt x="27599" y="0"/>
                    <a:pt x="37561" y="0"/>
                  </a:cubicBezTo>
                  <a:close/>
                </a:path>
              </a:pathLst>
            </a:custGeom>
            <a:solidFill>
              <a:srgbClr val="13538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814286" cy="255401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400">
                  <a:solidFill>
                    <a:srgbClr val="FFFFFF"/>
                  </a:solidFill>
                  <a:latin typeface="Aileron Bold"/>
                </a:rPr>
                <a:t>Kế hoạch giáo dục</a:t>
              </a:r>
            </a:p>
          </p:txBody>
        </p:sp>
      </p:grpSp>
      <p:sp>
        <p:nvSpPr>
          <p:cNvPr id="12" name="AutoShape 12"/>
          <p:cNvSpPr/>
          <p:nvPr/>
        </p:nvSpPr>
        <p:spPr>
          <a:xfrm flipH="1" flipV="1">
            <a:off x="9711788" y="3002350"/>
            <a:ext cx="0" cy="589019"/>
          </a:xfrm>
          <a:prstGeom prst="line">
            <a:avLst/>
          </a:prstGeom>
          <a:ln w="47625" cap="flat">
            <a:solidFill>
              <a:srgbClr val="13538A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>
            <a:off x="13400862" y="2141119"/>
            <a:ext cx="3441305" cy="861231"/>
            <a:chOff x="0" y="0"/>
            <a:chExt cx="906352" cy="22682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06352" cy="226826"/>
            </a:xfrm>
            <a:custGeom>
              <a:avLst/>
              <a:gdLst/>
              <a:ahLst/>
              <a:cxnLst/>
              <a:rect l="l" t="t" r="r" b="b"/>
              <a:pathLst>
                <a:path w="906352" h="226826">
                  <a:moveTo>
                    <a:pt x="33746" y="0"/>
                  </a:moveTo>
                  <a:lnTo>
                    <a:pt x="872606" y="0"/>
                  </a:lnTo>
                  <a:cubicBezTo>
                    <a:pt x="881556" y="0"/>
                    <a:pt x="890140" y="3555"/>
                    <a:pt x="896468" y="9884"/>
                  </a:cubicBezTo>
                  <a:cubicBezTo>
                    <a:pt x="902797" y="16212"/>
                    <a:pt x="906352" y="24796"/>
                    <a:pt x="906352" y="33746"/>
                  </a:cubicBezTo>
                  <a:lnTo>
                    <a:pt x="906352" y="193081"/>
                  </a:lnTo>
                  <a:cubicBezTo>
                    <a:pt x="906352" y="202030"/>
                    <a:pt x="902797" y="210614"/>
                    <a:pt x="896468" y="216942"/>
                  </a:cubicBezTo>
                  <a:cubicBezTo>
                    <a:pt x="890140" y="223271"/>
                    <a:pt x="881556" y="226826"/>
                    <a:pt x="872606" y="226826"/>
                  </a:cubicBezTo>
                  <a:lnTo>
                    <a:pt x="33746" y="226826"/>
                  </a:lnTo>
                  <a:cubicBezTo>
                    <a:pt x="15108" y="226826"/>
                    <a:pt x="0" y="211718"/>
                    <a:pt x="0" y="193081"/>
                  </a:cubicBezTo>
                  <a:lnTo>
                    <a:pt x="0" y="33746"/>
                  </a:lnTo>
                  <a:cubicBezTo>
                    <a:pt x="0" y="24796"/>
                    <a:pt x="3555" y="16212"/>
                    <a:pt x="9884" y="9884"/>
                  </a:cubicBezTo>
                  <a:cubicBezTo>
                    <a:pt x="16212" y="3555"/>
                    <a:pt x="24796" y="0"/>
                    <a:pt x="33746" y="0"/>
                  </a:cubicBezTo>
                  <a:close/>
                </a:path>
              </a:pathLst>
            </a:custGeom>
            <a:solidFill>
              <a:srgbClr val="13538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906352" cy="255401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400">
                  <a:solidFill>
                    <a:srgbClr val="FFFFFF"/>
                  </a:solidFill>
                  <a:latin typeface="Aileron Bold"/>
                </a:rPr>
                <a:t>Văn bản - Công văn</a:t>
              </a:r>
            </a:p>
          </p:txBody>
        </p:sp>
      </p:grpSp>
      <p:sp>
        <p:nvSpPr>
          <p:cNvPr id="16" name="AutoShape 16"/>
          <p:cNvSpPr/>
          <p:nvPr/>
        </p:nvSpPr>
        <p:spPr>
          <a:xfrm flipV="1">
            <a:off x="15121514" y="3002350"/>
            <a:ext cx="0" cy="589019"/>
          </a:xfrm>
          <a:prstGeom prst="line">
            <a:avLst/>
          </a:prstGeom>
          <a:ln w="47625" cap="flat">
            <a:solidFill>
              <a:srgbClr val="13538A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" name="AutoShape 17"/>
          <p:cNvSpPr/>
          <p:nvPr/>
        </p:nvSpPr>
        <p:spPr>
          <a:xfrm flipH="1">
            <a:off x="3055663" y="2571734"/>
            <a:ext cx="811567" cy="0"/>
          </a:xfrm>
          <a:prstGeom prst="line">
            <a:avLst/>
          </a:prstGeom>
          <a:ln w="47625" cap="flat">
            <a:solidFill>
              <a:srgbClr val="13538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8" name="AutoShape 18"/>
          <p:cNvSpPr/>
          <p:nvPr/>
        </p:nvSpPr>
        <p:spPr>
          <a:xfrm flipH="1">
            <a:off x="6684191" y="2571734"/>
            <a:ext cx="1481726" cy="0"/>
          </a:xfrm>
          <a:prstGeom prst="line">
            <a:avLst/>
          </a:prstGeom>
          <a:ln w="47625" cap="flat">
            <a:solidFill>
              <a:srgbClr val="13538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9" name="AutoShape 19"/>
          <p:cNvSpPr/>
          <p:nvPr/>
        </p:nvSpPr>
        <p:spPr>
          <a:xfrm flipH="1">
            <a:off x="11257659" y="2571734"/>
            <a:ext cx="2143203" cy="0"/>
          </a:xfrm>
          <a:prstGeom prst="line">
            <a:avLst/>
          </a:prstGeom>
          <a:ln w="47625" cap="flat">
            <a:solidFill>
              <a:srgbClr val="13538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1661886" y="3636028"/>
            <a:ext cx="4790235" cy="4366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59"/>
              </a:lnSpc>
              <a:spcBef>
                <a:spcPct val="0"/>
              </a:spcBef>
            </a:pPr>
            <a:r>
              <a:rPr lang="en-US" sz="3099" spc="80">
                <a:solidFill>
                  <a:srgbClr val="000000"/>
                </a:solidFill>
                <a:latin typeface="Quicksand"/>
              </a:rPr>
              <a:t>1.</a:t>
            </a:r>
            <a:r>
              <a:rPr lang="en-US" sz="3099" u="none" strike="noStrike" spc="80">
                <a:solidFill>
                  <a:srgbClr val="000000"/>
                </a:solidFill>
                <a:latin typeface="Quicksand"/>
              </a:rPr>
              <a:t>BAN GIÁM HIỆU</a:t>
            </a:r>
          </a:p>
          <a:p>
            <a:pPr marL="0" lvl="1" indent="0" algn="just">
              <a:lnSpc>
                <a:spcPts val="4959"/>
              </a:lnSpc>
              <a:spcBef>
                <a:spcPct val="0"/>
              </a:spcBef>
            </a:pPr>
            <a:r>
              <a:rPr lang="en-US" sz="3099" u="none" strike="noStrike" spc="80">
                <a:solidFill>
                  <a:srgbClr val="000000"/>
                </a:solidFill>
                <a:latin typeface="Quicksand"/>
              </a:rPr>
              <a:t>2.CÔNG ĐOÀN CƠ SỞ</a:t>
            </a:r>
          </a:p>
          <a:p>
            <a:pPr marL="0" lvl="1" indent="0" algn="just">
              <a:lnSpc>
                <a:spcPts val="4959"/>
              </a:lnSpc>
              <a:spcBef>
                <a:spcPct val="0"/>
              </a:spcBef>
            </a:pPr>
            <a:r>
              <a:rPr lang="en-US" sz="3099" u="none" strike="noStrike" spc="80">
                <a:solidFill>
                  <a:srgbClr val="000000"/>
                </a:solidFill>
                <a:latin typeface="Quicksand"/>
              </a:rPr>
              <a:t>3.ĐOÀN - ĐỘI</a:t>
            </a:r>
          </a:p>
          <a:p>
            <a:pPr marL="0" lvl="1" indent="0" algn="just">
              <a:lnSpc>
                <a:spcPts val="4959"/>
              </a:lnSpc>
              <a:spcBef>
                <a:spcPct val="0"/>
              </a:spcBef>
            </a:pPr>
            <a:r>
              <a:rPr lang="en-US" sz="3099" u="none" strike="noStrike" spc="80">
                <a:solidFill>
                  <a:srgbClr val="000000"/>
                </a:solidFill>
                <a:latin typeface="Quicksand"/>
              </a:rPr>
              <a:t>4.TỔ VĂN PHÒNG</a:t>
            </a:r>
          </a:p>
          <a:p>
            <a:pPr marL="0" lvl="1" indent="0" algn="just">
              <a:lnSpc>
                <a:spcPts val="4959"/>
              </a:lnSpc>
              <a:spcBef>
                <a:spcPct val="0"/>
              </a:spcBef>
            </a:pPr>
            <a:r>
              <a:rPr lang="en-US" sz="3099" u="none" strike="noStrike" spc="80">
                <a:solidFill>
                  <a:srgbClr val="000000"/>
                </a:solidFill>
                <a:latin typeface="Quicksand"/>
              </a:rPr>
              <a:t>5.TỔ CHUYÊN MÔN</a:t>
            </a:r>
          </a:p>
          <a:p>
            <a:pPr marL="0" lvl="1" indent="0" algn="just">
              <a:lnSpc>
                <a:spcPts val="4959"/>
              </a:lnSpc>
              <a:spcBef>
                <a:spcPct val="0"/>
              </a:spcBef>
            </a:pPr>
            <a:r>
              <a:rPr lang="en-US" sz="3099" u="none" strike="noStrike" spc="80">
                <a:solidFill>
                  <a:srgbClr val="000000"/>
                </a:solidFill>
                <a:latin typeface="Quicksand"/>
              </a:rPr>
              <a:t>6.BAN ĐẠI DIỆN CHA MẸ HỌC SINH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044371" y="3636028"/>
            <a:ext cx="5194793" cy="2480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59"/>
              </a:lnSpc>
            </a:pPr>
            <a:r>
              <a:rPr lang="en-US" sz="3099" spc="80">
                <a:solidFill>
                  <a:srgbClr val="000000"/>
                </a:solidFill>
                <a:latin typeface="Quicksand"/>
              </a:rPr>
              <a:t>1.THỜI KHÓA BIỂU</a:t>
            </a:r>
          </a:p>
          <a:p>
            <a:pPr>
              <a:lnSpc>
                <a:spcPts val="4959"/>
              </a:lnSpc>
            </a:pPr>
            <a:r>
              <a:rPr lang="en-US" sz="3099" spc="80">
                <a:solidFill>
                  <a:srgbClr val="000000"/>
                </a:solidFill>
                <a:latin typeface="Quicksand"/>
              </a:rPr>
              <a:t>2.THI - KIỂM TRA</a:t>
            </a:r>
          </a:p>
          <a:p>
            <a:pPr>
              <a:lnSpc>
                <a:spcPts val="4959"/>
              </a:lnSpc>
            </a:pPr>
            <a:r>
              <a:rPr lang="en-US" sz="3099" spc="80">
                <a:solidFill>
                  <a:srgbClr val="000000"/>
                </a:solidFill>
                <a:latin typeface="Quicksand"/>
              </a:rPr>
              <a:t>3.KẾ HOẠCH NHÀ TRƯỜNG</a:t>
            </a:r>
          </a:p>
          <a:p>
            <a:pPr>
              <a:lnSpc>
                <a:spcPts val="4959"/>
              </a:lnSpc>
            </a:pPr>
            <a:r>
              <a:rPr lang="en-US" sz="3099" spc="80">
                <a:solidFill>
                  <a:srgbClr val="000000"/>
                </a:solidFill>
                <a:latin typeface="Quicksand"/>
              </a:rPr>
              <a:t>4.KẾ HOẠCH CHUYÊN MÔN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816404" y="3645553"/>
            <a:ext cx="4567009" cy="1657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79"/>
              </a:lnSpc>
              <a:spcBef>
                <a:spcPct val="0"/>
              </a:spcBef>
            </a:pPr>
            <a:r>
              <a:rPr lang="en-US" sz="2799" spc="72">
                <a:solidFill>
                  <a:srgbClr val="000000"/>
                </a:solidFill>
                <a:latin typeface="Quicksand"/>
              </a:rPr>
              <a:t>1.</a:t>
            </a:r>
            <a:r>
              <a:rPr lang="en-US" sz="2799" u="none" strike="noStrike" spc="72">
                <a:solidFill>
                  <a:srgbClr val="000000"/>
                </a:solidFill>
                <a:latin typeface="Quicksand"/>
              </a:rPr>
              <a:t>THÔNG BÁO - PHỔ BIẾN</a:t>
            </a:r>
          </a:p>
          <a:p>
            <a:pPr marL="0" lvl="1" indent="0">
              <a:lnSpc>
                <a:spcPts val="4479"/>
              </a:lnSpc>
              <a:spcBef>
                <a:spcPct val="0"/>
              </a:spcBef>
            </a:pPr>
            <a:r>
              <a:rPr lang="en-US" sz="2799" u="none" strike="noStrike" spc="72">
                <a:solidFill>
                  <a:srgbClr val="000000"/>
                </a:solidFill>
                <a:latin typeface="Quicksand"/>
              </a:rPr>
              <a:t>2.VĂN BẢN PHÒNG GDĐT</a:t>
            </a:r>
          </a:p>
          <a:p>
            <a:pPr marL="0" lvl="1" indent="0">
              <a:lnSpc>
                <a:spcPts val="4479"/>
              </a:lnSpc>
              <a:spcBef>
                <a:spcPct val="0"/>
              </a:spcBef>
            </a:pPr>
            <a:r>
              <a:rPr lang="en-US" sz="2799" u="none" strike="noStrike" spc="72">
                <a:solidFill>
                  <a:srgbClr val="000000"/>
                </a:solidFill>
                <a:latin typeface="Quicksand"/>
              </a:rPr>
              <a:t>3.VĂN BẢN SƠ GDĐT</a:t>
            </a:r>
          </a:p>
        </p:txBody>
      </p:sp>
      <p:sp>
        <p:nvSpPr>
          <p:cNvPr id="23" name="AutoShape 23"/>
          <p:cNvSpPr/>
          <p:nvPr/>
        </p:nvSpPr>
        <p:spPr>
          <a:xfrm flipH="1" flipV="1">
            <a:off x="6757644" y="3696800"/>
            <a:ext cx="0" cy="4369176"/>
          </a:xfrm>
          <a:prstGeom prst="line">
            <a:avLst/>
          </a:prstGeom>
          <a:ln w="47625" cap="flat">
            <a:solidFill>
              <a:srgbClr val="13538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4" name="AutoShape 24"/>
          <p:cNvSpPr/>
          <p:nvPr/>
        </p:nvSpPr>
        <p:spPr>
          <a:xfrm flipH="1" flipV="1">
            <a:off x="12525892" y="3696800"/>
            <a:ext cx="0" cy="4474607"/>
          </a:xfrm>
          <a:prstGeom prst="line">
            <a:avLst/>
          </a:prstGeom>
          <a:ln w="47625" cap="flat">
            <a:solidFill>
              <a:srgbClr val="13538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14596199" y="8732362"/>
            <a:ext cx="2677507" cy="1051876"/>
          </a:xfrm>
          <a:custGeom>
            <a:avLst/>
            <a:gdLst/>
            <a:ahLst/>
            <a:cxnLst/>
            <a:rect l="l" t="t" r="r" b="b"/>
            <a:pathLst>
              <a:path w="2677507" h="1051876">
                <a:moveTo>
                  <a:pt x="0" y="0"/>
                </a:moveTo>
                <a:lnTo>
                  <a:pt x="2677507" y="0"/>
                </a:lnTo>
                <a:lnTo>
                  <a:pt x="2677507" y="1051876"/>
                </a:lnTo>
                <a:lnTo>
                  <a:pt x="0" y="1051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408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4778272" y="293904"/>
            <a:ext cx="9867032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000000"/>
                </a:solidFill>
                <a:latin typeface="Cormorant Garamond Bold Italics"/>
              </a:rPr>
              <a:t>CHỨC NĂNG HỆ THỐNG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730041" y="2358373"/>
            <a:ext cx="3441305" cy="861231"/>
            <a:chOff x="0" y="0"/>
            <a:chExt cx="906352" cy="2268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06352" cy="226826"/>
            </a:xfrm>
            <a:custGeom>
              <a:avLst/>
              <a:gdLst/>
              <a:ahLst/>
              <a:cxnLst/>
              <a:rect l="l" t="t" r="r" b="b"/>
              <a:pathLst>
                <a:path w="906352" h="226826">
                  <a:moveTo>
                    <a:pt x="33746" y="0"/>
                  </a:moveTo>
                  <a:lnTo>
                    <a:pt x="872606" y="0"/>
                  </a:lnTo>
                  <a:cubicBezTo>
                    <a:pt x="881556" y="0"/>
                    <a:pt x="890140" y="3555"/>
                    <a:pt x="896468" y="9884"/>
                  </a:cubicBezTo>
                  <a:cubicBezTo>
                    <a:pt x="902797" y="16212"/>
                    <a:pt x="906352" y="24796"/>
                    <a:pt x="906352" y="33746"/>
                  </a:cubicBezTo>
                  <a:lnTo>
                    <a:pt x="906352" y="193081"/>
                  </a:lnTo>
                  <a:cubicBezTo>
                    <a:pt x="906352" y="202030"/>
                    <a:pt x="902797" y="210614"/>
                    <a:pt x="896468" y="216942"/>
                  </a:cubicBezTo>
                  <a:cubicBezTo>
                    <a:pt x="890140" y="223271"/>
                    <a:pt x="881556" y="226826"/>
                    <a:pt x="872606" y="226826"/>
                  </a:cubicBezTo>
                  <a:lnTo>
                    <a:pt x="33746" y="226826"/>
                  </a:lnTo>
                  <a:cubicBezTo>
                    <a:pt x="15108" y="226826"/>
                    <a:pt x="0" y="211718"/>
                    <a:pt x="0" y="193081"/>
                  </a:cubicBezTo>
                  <a:lnTo>
                    <a:pt x="0" y="33746"/>
                  </a:lnTo>
                  <a:cubicBezTo>
                    <a:pt x="0" y="24796"/>
                    <a:pt x="3555" y="16212"/>
                    <a:pt x="9884" y="9884"/>
                  </a:cubicBezTo>
                  <a:cubicBezTo>
                    <a:pt x="16212" y="3555"/>
                    <a:pt x="24796" y="0"/>
                    <a:pt x="33746" y="0"/>
                  </a:cubicBezTo>
                  <a:close/>
                </a:path>
              </a:pathLst>
            </a:custGeom>
            <a:solidFill>
              <a:srgbClr val="13538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906352" cy="255401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400">
                  <a:solidFill>
                    <a:srgbClr val="FFFFFF"/>
                  </a:solidFill>
                  <a:latin typeface="Aileron Bold"/>
                </a:rPr>
                <a:t>Tin tức - sự kiện</a:t>
              </a:r>
            </a:p>
          </p:txBody>
        </p:sp>
      </p:grpSp>
      <p:sp>
        <p:nvSpPr>
          <p:cNvPr id="5" name="AutoShape 5"/>
          <p:cNvSpPr/>
          <p:nvPr/>
        </p:nvSpPr>
        <p:spPr>
          <a:xfrm flipV="1">
            <a:off x="4450694" y="3219603"/>
            <a:ext cx="0" cy="972206"/>
          </a:xfrm>
          <a:prstGeom prst="line">
            <a:avLst/>
          </a:prstGeom>
          <a:ln w="47625" cap="flat">
            <a:solidFill>
              <a:srgbClr val="13538A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7770134" y="2358373"/>
            <a:ext cx="2634134" cy="861231"/>
            <a:chOff x="0" y="0"/>
            <a:chExt cx="693764" cy="22682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93764" cy="226826"/>
            </a:xfrm>
            <a:custGeom>
              <a:avLst/>
              <a:gdLst/>
              <a:ahLst/>
              <a:cxnLst/>
              <a:rect l="l" t="t" r="r" b="b"/>
              <a:pathLst>
                <a:path w="693764" h="226826">
                  <a:moveTo>
                    <a:pt x="44086" y="0"/>
                  </a:moveTo>
                  <a:lnTo>
                    <a:pt x="649678" y="0"/>
                  </a:lnTo>
                  <a:cubicBezTo>
                    <a:pt x="661370" y="0"/>
                    <a:pt x="672583" y="4645"/>
                    <a:pt x="680851" y="12913"/>
                  </a:cubicBezTo>
                  <a:cubicBezTo>
                    <a:pt x="689119" y="21180"/>
                    <a:pt x="693764" y="32394"/>
                    <a:pt x="693764" y="44086"/>
                  </a:cubicBezTo>
                  <a:lnTo>
                    <a:pt x="693764" y="182740"/>
                  </a:lnTo>
                  <a:cubicBezTo>
                    <a:pt x="693764" y="207088"/>
                    <a:pt x="674026" y="226826"/>
                    <a:pt x="649678" y="226826"/>
                  </a:cubicBezTo>
                  <a:lnTo>
                    <a:pt x="44086" y="226826"/>
                  </a:lnTo>
                  <a:cubicBezTo>
                    <a:pt x="19738" y="226826"/>
                    <a:pt x="0" y="207088"/>
                    <a:pt x="0" y="182740"/>
                  </a:cubicBezTo>
                  <a:lnTo>
                    <a:pt x="0" y="44086"/>
                  </a:lnTo>
                  <a:cubicBezTo>
                    <a:pt x="0" y="19738"/>
                    <a:pt x="19738" y="0"/>
                    <a:pt x="44086" y="0"/>
                  </a:cubicBezTo>
                  <a:close/>
                </a:path>
              </a:pathLst>
            </a:custGeom>
            <a:solidFill>
              <a:srgbClr val="13538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693764" cy="255401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400">
                  <a:solidFill>
                    <a:srgbClr val="FFFFFF"/>
                  </a:solidFill>
                  <a:latin typeface="Aileron Bold"/>
                </a:rPr>
                <a:t>Lịch công tác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219697" y="2358373"/>
            <a:ext cx="3441305" cy="861231"/>
            <a:chOff x="0" y="0"/>
            <a:chExt cx="906352" cy="22682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06352" cy="226826"/>
            </a:xfrm>
            <a:custGeom>
              <a:avLst/>
              <a:gdLst/>
              <a:ahLst/>
              <a:cxnLst/>
              <a:rect l="l" t="t" r="r" b="b"/>
              <a:pathLst>
                <a:path w="906352" h="226826">
                  <a:moveTo>
                    <a:pt x="33746" y="0"/>
                  </a:moveTo>
                  <a:lnTo>
                    <a:pt x="872606" y="0"/>
                  </a:lnTo>
                  <a:cubicBezTo>
                    <a:pt x="881556" y="0"/>
                    <a:pt x="890140" y="3555"/>
                    <a:pt x="896468" y="9884"/>
                  </a:cubicBezTo>
                  <a:cubicBezTo>
                    <a:pt x="902797" y="16212"/>
                    <a:pt x="906352" y="24796"/>
                    <a:pt x="906352" y="33746"/>
                  </a:cubicBezTo>
                  <a:lnTo>
                    <a:pt x="906352" y="193081"/>
                  </a:lnTo>
                  <a:cubicBezTo>
                    <a:pt x="906352" y="202030"/>
                    <a:pt x="902797" y="210614"/>
                    <a:pt x="896468" y="216942"/>
                  </a:cubicBezTo>
                  <a:cubicBezTo>
                    <a:pt x="890140" y="223271"/>
                    <a:pt x="881556" y="226826"/>
                    <a:pt x="872606" y="226826"/>
                  </a:cubicBezTo>
                  <a:lnTo>
                    <a:pt x="33746" y="226826"/>
                  </a:lnTo>
                  <a:cubicBezTo>
                    <a:pt x="15108" y="226826"/>
                    <a:pt x="0" y="211718"/>
                    <a:pt x="0" y="193081"/>
                  </a:cubicBezTo>
                  <a:lnTo>
                    <a:pt x="0" y="33746"/>
                  </a:lnTo>
                  <a:cubicBezTo>
                    <a:pt x="0" y="24796"/>
                    <a:pt x="3555" y="16212"/>
                    <a:pt x="9884" y="9884"/>
                  </a:cubicBezTo>
                  <a:cubicBezTo>
                    <a:pt x="16212" y="3555"/>
                    <a:pt x="24796" y="0"/>
                    <a:pt x="33746" y="0"/>
                  </a:cubicBezTo>
                  <a:close/>
                </a:path>
              </a:pathLst>
            </a:custGeom>
            <a:solidFill>
              <a:srgbClr val="13538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906352" cy="255401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400">
                  <a:solidFill>
                    <a:srgbClr val="FFFFFF"/>
                  </a:solidFill>
                  <a:latin typeface="Aileron Bold"/>
                </a:rPr>
                <a:t>Hỏi đáp trực tuyến</a:t>
              </a:r>
            </a:p>
          </p:txBody>
        </p:sp>
      </p:grpSp>
      <p:sp>
        <p:nvSpPr>
          <p:cNvPr id="12" name="AutoShape 12"/>
          <p:cNvSpPr/>
          <p:nvPr/>
        </p:nvSpPr>
        <p:spPr>
          <a:xfrm flipH="1">
            <a:off x="6171346" y="2788988"/>
            <a:ext cx="1598787" cy="0"/>
          </a:xfrm>
          <a:prstGeom prst="line">
            <a:avLst/>
          </a:prstGeom>
          <a:ln w="47625" cap="flat">
            <a:solidFill>
              <a:srgbClr val="13538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 flipH="1">
            <a:off x="10404268" y="2788988"/>
            <a:ext cx="1815429" cy="0"/>
          </a:xfrm>
          <a:prstGeom prst="line">
            <a:avLst/>
          </a:prstGeom>
          <a:ln w="47625" cap="flat">
            <a:solidFill>
              <a:srgbClr val="13538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2626998" y="4477559"/>
            <a:ext cx="5808863" cy="3109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59"/>
              </a:lnSpc>
            </a:pPr>
            <a:r>
              <a:rPr lang="en-US" sz="3099" spc="80">
                <a:solidFill>
                  <a:srgbClr val="000000"/>
                </a:solidFill>
                <a:latin typeface="Quicksand"/>
              </a:rPr>
              <a:t>1. HOẠT ĐỘNG - SỰ KIỆN</a:t>
            </a:r>
          </a:p>
          <a:p>
            <a:pPr>
              <a:lnSpc>
                <a:spcPts val="4959"/>
              </a:lnSpc>
            </a:pPr>
            <a:r>
              <a:rPr lang="en-US" sz="3099" spc="80">
                <a:solidFill>
                  <a:srgbClr val="000000"/>
                </a:solidFill>
                <a:latin typeface="Quicksand"/>
              </a:rPr>
              <a:t>2. HOẠT ĐỘNG ĐOÀN - ĐỘI</a:t>
            </a:r>
          </a:p>
          <a:p>
            <a:pPr>
              <a:lnSpc>
                <a:spcPts val="4959"/>
              </a:lnSpc>
            </a:pPr>
            <a:r>
              <a:rPr lang="en-US" sz="3099" spc="80">
                <a:solidFill>
                  <a:srgbClr val="000000"/>
                </a:solidFill>
                <a:latin typeface="Quicksand"/>
              </a:rPr>
              <a:t>3. HOẠT ĐỘNG CHUYÊN MÔN</a:t>
            </a:r>
          </a:p>
          <a:p>
            <a:pPr>
              <a:lnSpc>
                <a:spcPts val="4959"/>
              </a:lnSpc>
            </a:pPr>
            <a:r>
              <a:rPr lang="en-US" sz="3099" spc="80">
                <a:solidFill>
                  <a:srgbClr val="000000"/>
                </a:solidFill>
                <a:latin typeface="Quicksand"/>
              </a:rPr>
              <a:t>4. HOẠT ĐỘNG NGOÀI GIỜ LÊN LỚP</a:t>
            </a:r>
          </a:p>
        </p:txBody>
      </p:sp>
      <p:sp>
        <p:nvSpPr>
          <p:cNvPr id="15" name="Freeform 15"/>
          <p:cNvSpPr/>
          <p:nvPr/>
        </p:nvSpPr>
        <p:spPr>
          <a:xfrm>
            <a:off x="14596199" y="8732362"/>
            <a:ext cx="2677507" cy="1051876"/>
          </a:xfrm>
          <a:custGeom>
            <a:avLst/>
            <a:gdLst/>
            <a:ahLst/>
            <a:cxnLst/>
            <a:rect l="l" t="t" r="r" b="b"/>
            <a:pathLst>
              <a:path w="2677507" h="1051876">
                <a:moveTo>
                  <a:pt x="0" y="0"/>
                </a:moveTo>
                <a:lnTo>
                  <a:pt x="2677507" y="0"/>
                </a:lnTo>
                <a:lnTo>
                  <a:pt x="2677507" y="1051876"/>
                </a:lnTo>
                <a:lnTo>
                  <a:pt x="0" y="1051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408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4778272" y="293904"/>
            <a:ext cx="9867032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000000"/>
                </a:solidFill>
                <a:latin typeface="Cormorant Garamond Bold Italics"/>
              </a:rPr>
              <a:t>CHỨC NĂNG HỆ THỐNG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758726" y="2473869"/>
            <a:ext cx="5385764" cy="6426664"/>
            <a:chOff x="0" y="0"/>
            <a:chExt cx="1418473" cy="16926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18473" cy="1692619"/>
            </a:xfrm>
            <a:custGeom>
              <a:avLst/>
              <a:gdLst/>
              <a:ahLst/>
              <a:cxnLst/>
              <a:rect l="l" t="t" r="r" b="b"/>
              <a:pathLst>
                <a:path w="1418473" h="1692619">
                  <a:moveTo>
                    <a:pt x="73311" y="0"/>
                  </a:moveTo>
                  <a:lnTo>
                    <a:pt x="1345161" y="0"/>
                  </a:lnTo>
                  <a:cubicBezTo>
                    <a:pt x="1364605" y="0"/>
                    <a:pt x="1383252" y="7724"/>
                    <a:pt x="1397000" y="21472"/>
                  </a:cubicBezTo>
                  <a:cubicBezTo>
                    <a:pt x="1410749" y="35221"/>
                    <a:pt x="1418473" y="53868"/>
                    <a:pt x="1418473" y="73311"/>
                  </a:cubicBezTo>
                  <a:lnTo>
                    <a:pt x="1418473" y="1619308"/>
                  </a:lnTo>
                  <a:cubicBezTo>
                    <a:pt x="1418473" y="1638751"/>
                    <a:pt x="1410749" y="1657398"/>
                    <a:pt x="1397000" y="1671147"/>
                  </a:cubicBezTo>
                  <a:cubicBezTo>
                    <a:pt x="1383252" y="1684896"/>
                    <a:pt x="1364605" y="1692619"/>
                    <a:pt x="1345161" y="1692619"/>
                  </a:cubicBezTo>
                  <a:lnTo>
                    <a:pt x="73311" y="1692619"/>
                  </a:lnTo>
                  <a:cubicBezTo>
                    <a:pt x="32823" y="1692619"/>
                    <a:pt x="0" y="1659797"/>
                    <a:pt x="0" y="1619308"/>
                  </a:cubicBezTo>
                  <a:lnTo>
                    <a:pt x="0" y="73311"/>
                  </a:lnTo>
                  <a:cubicBezTo>
                    <a:pt x="0" y="53868"/>
                    <a:pt x="7724" y="35221"/>
                    <a:pt x="21472" y="21472"/>
                  </a:cubicBezTo>
                  <a:cubicBezTo>
                    <a:pt x="35221" y="7724"/>
                    <a:pt x="53868" y="0"/>
                    <a:pt x="73311" y="0"/>
                  </a:cubicBezTo>
                  <a:close/>
                </a:path>
              </a:pathLst>
            </a:custGeom>
            <a:solidFill>
              <a:srgbClr val="DBE5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1418473" cy="18164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767060" y="2473869"/>
            <a:ext cx="5385764" cy="6426664"/>
            <a:chOff x="0" y="0"/>
            <a:chExt cx="1418473" cy="16926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18473" cy="1692619"/>
            </a:xfrm>
            <a:custGeom>
              <a:avLst/>
              <a:gdLst/>
              <a:ahLst/>
              <a:cxnLst/>
              <a:rect l="l" t="t" r="r" b="b"/>
              <a:pathLst>
                <a:path w="1418473" h="1692619">
                  <a:moveTo>
                    <a:pt x="73311" y="0"/>
                  </a:moveTo>
                  <a:lnTo>
                    <a:pt x="1345161" y="0"/>
                  </a:lnTo>
                  <a:cubicBezTo>
                    <a:pt x="1364605" y="0"/>
                    <a:pt x="1383252" y="7724"/>
                    <a:pt x="1397000" y="21472"/>
                  </a:cubicBezTo>
                  <a:cubicBezTo>
                    <a:pt x="1410749" y="35221"/>
                    <a:pt x="1418473" y="53868"/>
                    <a:pt x="1418473" y="73311"/>
                  </a:cubicBezTo>
                  <a:lnTo>
                    <a:pt x="1418473" y="1619308"/>
                  </a:lnTo>
                  <a:cubicBezTo>
                    <a:pt x="1418473" y="1638751"/>
                    <a:pt x="1410749" y="1657398"/>
                    <a:pt x="1397000" y="1671147"/>
                  </a:cubicBezTo>
                  <a:cubicBezTo>
                    <a:pt x="1383252" y="1684896"/>
                    <a:pt x="1364605" y="1692619"/>
                    <a:pt x="1345161" y="1692619"/>
                  </a:cubicBezTo>
                  <a:lnTo>
                    <a:pt x="73311" y="1692619"/>
                  </a:lnTo>
                  <a:cubicBezTo>
                    <a:pt x="32823" y="1692619"/>
                    <a:pt x="0" y="1659797"/>
                    <a:pt x="0" y="1619308"/>
                  </a:cubicBezTo>
                  <a:lnTo>
                    <a:pt x="0" y="73311"/>
                  </a:lnTo>
                  <a:cubicBezTo>
                    <a:pt x="0" y="53868"/>
                    <a:pt x="7724" y="35221"/>
                    <a:pt x="21472" y="21472"/>
                  </a:cubicBezTo>
                  <a:cubicBezTo>
                    <a:pt x="35221" y="7724"/>
                    <a:pt x="53868" y="0"/>
                    <a:pt x="73311" y="0"/>
                  </a:cubicBezTo>
                  <a:close/>
                </a:path>
              </a:pathLst>
            </a:custGeom>
            <a:solidFill>
              <a:srgbClr val="DBE5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23825"/>
              <a:ext cx="1418473" cy="18164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7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2285498" y="3338313"/>
            <a:ext cx="2348889" cy="2348889"/>
          </a:xfrm>
          <a:custGeom>
            <a:avLst/>
            <a:gdLst/>
            <a:ahLst/>
            <a:cxnLst/>
            <a:rect l="l" t="t" r="r" b="b"/>
            <a:pathLst>
              <a:path w="2348889" h="2348889">
                <a:moveTo>
                  <a:pt x="0" y="0"/>
                </a:moveTo>
                <a:lnTo>
                  <a:pt x="2348888" y="0"/>
                </a:lnTo>
                <a:lnTo>
                  <a:pt x="2348888" y="2348888"/>
                </a:lnTo>
                <a:lnTo>
                  <a:pt x="0" y="23488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10767060" y="990600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4190572" y="3338313"/>
            <a:ext cx="2522071" cy="2744607"/>
          </a:xfrm>
          <a:custGeom>
            <a:avLst/>
            <a:gdLst/>
            <a:ahLst/>
            <a:cxnLst/>
            <a:rect l="l" t="t" r="r" b="b"/>
            <a:pathLst>
              <a:path w="2522071" h="2744607">
                <a:moveTo>
                  <a:pt x="0" y="0"/>
                </a:moveTo>
                <a:lnTo>
                  <a:pt x="2522071" y="0"/>
                </a:lnTo>
                <a:lnTo>
                  <a:pt x="2522071" y="2744607"/>
                </a:lnTo>
                <a:lnTo>
                  <a:pt x="0" y="27446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028700" y="618759"/>
            <a:ext cx="11670286" cy="887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7280"/>
              </a:lnSpc>
              <a:spcBef>
                <a:spcPct val="0"/>
              </a:spcBef>
            </a:pPr>
            <a:r>
              <a:rPr lang="en-US" sz="5200">
                <a:solidFill>
                  <a:srgbClr val="000000"/>
                </a:solidFill>
                <a:latin typeface="Cormorant Garamond Bold Italics"/>
              </a:rPr>
              <a:t>LIÊN KẾT, TÍCH HỢP THÔNG TIN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433054" y="6815897"/>
            <a:ext cx="4037108" cy="98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Quicksand Bold"/>
              </a:rPr>
              <a:t>CỔNG THÔNG TIN GIÁO DỤC TỈNH LÂM ĐỒNG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719385" y="6815897"/>
            <a:ext cx="3481115" cy="98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Quicksand Bold"/>
              </a:rPr>
              <a:t>HỆ THỐNG QUẢN LÝ VĂN BẢN</a:t>
            </a:r>
          </a:p>
        </p:txBody>
      </p:sp>
      <p:sp>
        <p:nvSpPr>
          <p:cNvPr id="14" name="Freeform 14"/>
          <p:cNvSpPr/>
          <p:nvPr/>
        </p:nvSpPr>
        <p:spPr>
          <a:xfrm>
            <a:off x="15351849" y="9049951"/>
            <a:ext cx="2677507" cy="1051876"/>
          </a:xfrm>
          <a:custGeom>
            <a:avLst/>
            <a:gdLst/>
            <a:ahLst/>
            <a:cxnLst/>
            <a:rect l="l" t="t" r="r" b="b"/>
            <a:pathLst>
              <a:path w="2677507" h="1051876">
                <a:moveTo>
                  <a:pt x="0" y="0"/>
                </a:moveTo>
                <a:lnTo>
                  <a:pt x="2677506" y="0"/>
                </a:lnTo>
                <a:lnTo>
                  <a:pt x="2677506" y="1051876"/>
                </a:lnTo>
                <a:lnTo>
                  <a:pt x="0" y="10518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4082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767060" y="990600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H="1">
            <a:off x="5647089" y="3167468"/>
            <a:ext cx="0" cy="5882483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28700" y="3674036"/>
            <a:ext cx="3829995" cy="4981671"/>
          </a:xfrm>
          <a:custGeom>
            <a:avLst/>
            <a:gdLst/>
            <a:ahLst/>
            <a:cxnLst/>
            <a:rect l="l" t="t" r="r" b="b"/>
            <a:pathLst>
              <a:path w="3829995" h="4981671">
                <a:moveTo>
                  <a:pt x="0" y="0"/>
                </a:moveTo>
                <a:lnTo>
                  <a:pt x="3829995" y="0"/>
                </a:lnTo>
                <a:lnTo>
                  <a:pt x="3829995" y="4981672"/>
                </a:lnTo>
                <a:lnTo>
                  <a:pt x="0" y="4981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6960493" y="2914355"/>
            <a:ext cx="8951630" cy="6135597"/>
          </a:xfrm>
          <a:custGeom>
            <a:avLst/>
            <a:gdLst/>
            <a:ahLst/>
            <a:cxnLst/>
            <a:rect l="l" t="t" r="r" b="b"/>
            <a:pathLst>
              <a:path w="8951630" h="6135597">
                <a:moveTo>
                  <a:pt x="0" y="0"/>
                </a:moveTo>
                <a:lnTo>
                  <a:pt x="8951630" y="0"/>
                </a:lnTo>
                <a:lnTo>
                  <a:pt x="8951630" y="6135596"/>
                </a:lnTo>
                <a:lnTo>
                  <a:pt x="0" y="61355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028700" y="599709"/>
            <a:ext cx="8842760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000000"/>
                </a:solidFill>
                <a:latin typeface="Cormorant Garamond Bold Italics"/>
              </a:rPr>
              <a:t>YÊU CẦU PHI TÍNH NĂNG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059821" y="1142317"/>
            <a:ext cx="4199119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Quicksand Bold"/>
              </a:rPr>
              <a:t>HỆ THỐNG BẢO MẬT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871460" y="8260911"/>
            <a:ext cx="3701077" cy="49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Quicksand Bold"/>
              </a:rPr>
              <a:t>XÁC THỰC 2 YẾU TỐ </a:t>
            </a:r>
          </a:p>
        </p:txBody>
      </p:sp>
      <p:sp>
        <p:nvSpPr>
          <p:cNvPr id="9" name="Freeform 9"/>
          <p:cNvSpPr/>
          <p:nvPr/>
        </p:nvSpPr>
        <p:spPr>
          <a:xfrm>
            <a:off x="15351849" y="9049951"/>
            <a:ext cx="2677507" cy="1051876"/>
          </a:xfrm>
          <a:custGeom>
            <a:avLst/>
            <a:gdLst/>
            <a:ahLst/>
            <a:cxnLst/>
            <a:rect l="l" t="t" r="r" b="b"/>
            <a:pathLst>
              <a:path w="2677507" h="1051876">
                <a:moveTo>
                  <a:pt x="0" y="0"/>
                </a:moveTo>
                <a:lnTo>
                  <a:pt x="2677506" y="0"/>
                </a:lnTo>
                <a:lnTo>
                  <a:pt x="2677506" y="1051876"/>
                </a:lnTo>
                <a:lnTo>
                  <a:pt x="0" y="10518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4082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767060" y="990600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974685" y="1981493"/>
            <a:ext cx="10284615" cy="7464916"/>
          </a:xfrm>
          <a:custGeom>
            <a:avLst/>
            <a:gdLst/>
            <a:ahLst/>
            <a:cxnLst/>
            <a:rect l="l" t="t" r="r" b="b"/>
            <a:pathLst>
              <a:path w="10284615" h="7464916">
                <a:moveTo>
                  <a:pt x="0" y="0"/>
                </a:moveTo>
                <a:lnTo>
                  <a:pt x="10284615" y="0"/>
                </a:lnTo>
                <a:lnTo>
                  <a:pt x="10284615" y="7464916"/>
                </a:lnTo>
                <a:lnTo>
                  <a:pt x="0" y="74649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874135" y="600356"/>
            <a:ext cx="9042688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000000"/>
                </a:solidFill>
                <a:latin typeface="Cormorant Garamond Bold Italics"/>
              </a:rPr>
              <a:t>YÊU CẦU PHI TÍNH NĂNG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74135" y="1914171"/>
            <a:ext cx="5049300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Quicksand Bold"/>
              </a:rPr>
              <a:t>Sao lưu, khôi phục dữ liệu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74135" y="2962452"/>
            <a:ext cx="5262199" cy="1002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Quicksand"/>
              </a:rPr>
              <a:t>Dữ liệu được sao lưu tự động định kỳ hằng ngày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74135" y="4087875"/>
            <a:ext cx="5310783" cy="49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Quicksand"/>
              </a:rPr>
              <a:t>Lưu lịch sử thao tác người dùng</a:t>
            </a:r>
          </a:p>
        </p:txBody>
      </p:sp>
      <p:sp>
        <p:nvSpPr>
          <p:cNvPr id="8" name="Freeform 8"/>
          <p:cNvSpPr/>
          <p:nvPr/>
        </p:nvSpPr>
        <p:spPr>
          <a:xfrm>
            <a:off x="721279" y="8732362"/>
            <a:ext cx="2677507" cy="1051876"/>
          </a:xfrm>
          <a:custGeom>
            <a:avLst/>
            <a:gdLst/>
            <a:ahLst/>
            <a:cxnLst/>
            <a:rect l="l" t="t" r="r" b="b"/>
            <a:pathLst>
              <a:path w="2677507" h="1051876">
                <a:moveTo>
                  <a:pt x="0" y="0"/>
                </a:moveTo>
                <a:lnTo>
                  <a:pt x="2677506" y="0"/>
                </a:lnTo>
                <a:lnTo>
                  <a:pt x="2677506" y="1051876"/>
                </a:lnTo>
                <a:lnTo>
                  <a:pt x="0" y="10518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4082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660651" y="0"/>
            <a:ext cx="4627349" cy="10287000"/>
            <a:chOff x="0" y="0"/>
            <a:chExt cx="121872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18726" cy="2709333"/>
            </a:xfrm>
            <a:custGeom>
              <a:avLst/>
              <a:gdLst/>
              <a:ahLst/>
              <a:cxnLst/>
              <a:rect l="l" t="t" r="r" b="b"/>
              <a:pathLst>
                <a:path w="1218726" h="2709333">
                  <a:moveTo>
                    <a:pt x="0" y="0"/>
                  </a:moveTo>
                  <a:lnTo>
                    <a:pt x="1218726" y="0"/>
                  </a:lnTo>
                  <a:lnTo>
                    <a:pt x="12187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7994A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1218726" cy="28331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7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09599" y="689174"/>
            <a:ext cx="13051051" cy="10625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959"/>
              </a:lnSpc>
              <a:spcBef>
                <a:spcPct val="0"/>
              </a:spcBef>
            </a:pPr>
            <a:r>
              <a:rPr lang="en-US" sz="6399" dirty="0" err="1">
                <a:solidFill>
                  <a:srgbClr val="000000"/>
                </a:solidFill>
                <a:latin typeface="Quicksand" panose="020B0604020202020204" charset="0"/>
              </a:rPr>
              <a:t>Các</a:t>
            </a:r>
            <a:r>
              <a:rPr lang="en-US" sz="6399" dirty="0">
                <a:solidFill>
                  <a:srgbClr val="000000"/>
                </a:solidFill>
                <a:latin typeface="Quicksand" panose="020B0604020202020204" charset="0"/>
              </a:rPr>
              <a:t> Website </a:t>
            </a:r>
            <a:r>
              <a:rPr lang="en-US" sz="6399" dirty="0" err="1">
                <a:solidFill>
                  <a:srgbClr val="000000"/>
                </a:solidFill>
                <a:latin typeface="Quicksand" panose="020B0604020202020204" charset="0"/>
              </a:rPr>
              <a:t>VNPT</a:t>
            </a:r>
            <a:r>
              <a:rPr lang="en-US" sz="6399" dirty="0">
                <a:solidFill>
                  <a:srgbClr val="000000"/>
                </a:solidFill>
                <a:latin typeface="Quicksand" panose="020B0604020202020204" charset="0"/>
              </a:rPr>
              <a:t> </a:t>
            </a:r>
            <a:r>
              <a:rPr lang="en-US" sz="6399" dirty="0" err="1">
                <a:solidFill>
                  <a:srgbClr val="000000"/>
                </a:solidFill>
                <a:latin typeface="Quicksand" panose="020B0604020202020204" charset="0"/>
              </a:rPr>
              <a:t>đã</a:t>
            </a:r>
            <a:r>
              <a:rPr lang="en-US" sz="6399" dirty="0">
                <a:solidFill>
                  <a:srgbClr val="000000"/>
                </a:solidFill>
                <a:latin typeface="Quicksand" panose="020B0604020202020204" charset="0"/>
              </a:rPr>
              <a:t> </a:t>
            </a:r>
            <a:r>
              <a:rPr lang="en-US" sz="6399" dirty="0" err="1">
                <a:solidFill>
                  <a:srgbClr val="000000"/>
                </a:solidFill>
                <a:latin typeface="Quicksand" panose="020B0604020202020204" charset="0"/>
              </a:rPr>
              <a:t>triển</a:t>
            </a:r>
            <a:r>
              <a:rPr lang="en-US" sz="6399" dirty="0">
                <a:solidFill>
                  <a:srgbClr val="000000"/>
                </a:solidFill>
                <a:latin typeface="Quicksand" panose="020B0604020202020204" charset="0"/>
              </a:rPr>
              <a:t> </a:t>
            </a:r>
            <a:r>
              <a:rPr lang="en-US" sz="6399" dirty="0" err="1">
                <a:solidFill>
                  <a:srgbClr val="000000"/>
                </a:solidFill>
                <a:latin typeface="Quicksand" panose="020B0604020202020204" charset="0"/>
              </a:rPr>
              <a:t>khai</a:t>
            </a:r>
            <a:endParaRPr lang="en-US" sz="6399" dirty="0">
              <a:solidFill>
                <a:srgbClr val="000000"/>
              </a:solidFill>
              <a:latin typeface="Quicksand" panose="020B0604020202020204" charset="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2423416"/>
            <a:ext cx="8115300" cy="9614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3919"/>
              </a:lnSpc>
              <a:spcBef>
                <a:spcPct val="0"/>
              </a:spcBef>
            </a:pPr>
            <a:r>
              <a:rPr lang="en-US" sz="2799" dirty="0">
                <a:solidFill>
                  <a:srgbClr val="000000"/>
                </a:solidFill>
                <a:latin typeface="Quicksand Bold"/>
              </a:rPr>
              <a:t>1. </a:t>
            </a:r>
            <a:r>
              <a:rPr lang="en-US" sz="2799" dirty="0" err="1">
                <a:solidFill>
                  <a:srgbClr val="000000"/>
                </a:solidFill>
                <a:latin typeface="Quicksand Bold"/>
              </a:rPr>
              <a:t>Cổng</a:t>
            </a:r>
            <a:r>
              <a:rPr lang="en-US" sz="2799" dirty="0">
                <a:solidFill>
                  <a:srgbClr val="000000"/>
                </a:solidFill>
                <a:latin typeface="Quicksand Bol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 Bold"/>
              </a:rPr>
              <a:t>thông</a:t>
            </a:r>
            <a:r>
              <a:rPr lang="en-US" sz="2799" dirty="0">
                <a:solidFill>
                  <a:srgbClr val="000000"/>
                </a:solidFill>
                <a:latin typeface="Quicksand Bold"/>
              </a:rPr>
              <a:t> tin </a:t>
            </a:r>
            <a:r>
              <a:rPr lang="en-US" sz="2799" dirty="0" err="1">
                <a:solidFill>
                  <a:srgbClr val="000000"/>
                </a:solidFill>
                <a:latin typeface="Quicksand Bold"/>
              </a:rPr>
              <a:t>Tỉnh</a:t>
            </a:r>
            <a:r>
              <a:rPr lang="en-US" sz="2799" dirty="0">
                <a:solidFill>
                  <a:srgbClr val="000000"/>
                </a:solidFill>
                <a:latin typeface="Quicksand Bold"/>
              </a:rPr>
              <a:t> Lâm </a:t>
            </a:r>
            <a:r>
              <a:rPr lang="en-US" sz="2799" dirty="0" err="1">
                <a:solidFill>
                  <a:srgbClr val="000000"/>
                </a:solidFill>
                <a:latin typeface="Quicksand Bold"/>
              </a:rPr>
              <a:t>Đồng</a:t>
            </a:r>
            <a:r>
              <a:rPr lang="en-US" sz="2799" dirty="0">
                <a:solidFill>
                  <a:srgbClr val="000000"/>
                </a:solidFill>
                <a:latin typeface="Quicksand Bold"/>
              </a:rPr>
              <a:t>: https://</a:t>
            </a:r>
            <a:r>
              <a:rPr lang="en-US" sz="2799" dirty="0" err="1">
                <a:solidFill>
                  <a:srgbClr val="000000"/>
                </a:solidFill>
                <a:latin typeface="Quicksand Bold"/>
              </a:rPr>
              <a:t>lamdong.gov.vn</a:t>
            </a:r>
            <a:endParaRPr lang="en-US" sz="2799" dirty="0">
              <a:solidFill>
                <a:srgbClr val="000000"/>
              </a:solidFill>
              <a:latin typeface="Quicksand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3466722"/>
            <a:ext cx="8115300" cy="11633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4759"/>
              </a:lnSpc>
            </a:pPr>
            <a:r>
              <a:rPr lang="en-US" sz="2799" dirty="0">
                <a:solidFill>
                  <a:srgbClr val="000000"/>
                </a:solidFill>
                <a:latin typeface="Quicksand Bold"/>
              </a:rPr>
              <a:t>2. </a:t>
            </a:r>
            <a:r>
              <a:rPr lang="en-US" sz="2799" dirty="0" err="1">
                <a:solidFill>
                  <a:srgbClr val="000000"/>
                </a:solidFill>
                <a:latin typeface="Quicksand Bold"/>
              </a:rPr>
              <a:t>Cổng</a:t>
            </a:r>
            <a:r>
              <a:rPr lang="en-US" sz="2799" dirty="0">
                <a:solidFill>
                  <a:srgbClr val="000000"/>
                </a:solidFill>
                <a:latin typeface="Quicksand Bol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 Bold"/>
              </a:rPr>
              <a:t>thông</a:t>
            </a:r>
            <a:r>
              <a:rPr lang="en-US" sz="2799" dirty="0">
                <a:solidFill>
                  <a:srgbClr val="000000"/>
                </a:solidFill>
                <a:latin typeface="Quicksand Bold"/>
              </a:rPr>
              <a:t> tin </a:t>
            </a:r>
            <a:r>
              <a:rPr lang="en-US" sz="2799" dirty="0" err="1">
                <a:solidFill>
                  <a:srgbClr val="000000"/>
                </a:solidFill>
                <a:latin typeface="Quicksand Bold"/>
              </a:rPr>
              <a:t>giáo</a:t>
            </a:r>
            <a:r>
              <a:rPr lang="en-US" sz="2799" dirty="0">
                <a:solidFill>
                  <a:srgbClr val="000000"/>
                </a:solidFill>
                <a:latin typeface="Quicksand Bol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 Bold"/>
              </a:rPr>
              <a:t>dục</a:t>
            </a:r>
            <a:r>
              <a:rPr lang="en-US" sz="2799" dirty="0">
                <a:solidFill>
                  <a:srgbClr val="000000"/>
                </a:solidFill>
                <a:latin typeface="Quicksand Bol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 Bold"/>
              </a:rPr>
              <a:t>tỉnh</a:t>
            </a:r>
            <a:r>
              <a:rPr lang="en-US" sz="2799" dirty="0">
                <a:solidFill>
                  <a:srgbClr val="000000"/>
                </a:solidFill>
                <a:latin typeface="Quicksand Bold"/>
              </a:rPr>
              <a:t> Lâm </a:t>
            </a:r>
            <a:r>
              <a:rPr lang="en-US" sz="2799" dirty="0" err="1">
                <a:solidFill>
                  <a:srgbClr val="000000"/>
                </a:solidFill>
                <a:latin typeface="Quicksand Bold"/>
              </a:rPr>
              <a:t>Đồng</a:t>
            </a:r>
            <a:r>
              <a:rPr lang="en-US" sz="2799" dirty="0">
                <a:solidFill>
                  <a:srgbClr val="000000"/>
                </a:solidFill>
                <a:latin typeface="Quicksand Bold"/>
              </a:rPr>
              <a:t>:</a:t>
            </a:r>
          </a:p>
          <a:p>
            <a:pPr marL="0" lvl="0" indent="0">
              <a:lnSpc>
                <a:spcPts val="4759"/>
              </a:lnSpc>
            </a:pPr>
            <a:r>
              <a:rPr lang="en-US" sz="2799" dirty="0">
                <a:solidFill>
                  <a:srgbClr val="000000"/>
                </a:solidFill>
                <a:latin typeface="Quicksand Bold"/>
              </a:rPr>
              <a:t>https://</a:t>
            </a:r>
            <a:r>
              <a:rPr lang="en-US" sz="2799" dirty="0" err="1">
                <a:solidFill>
                  <a:srgbClr val="000000"/>
                </a:solidFill>
                <a:latin typeface="Quicksand Bold"/>
              </a:rPr>
              <a:t>lamdong.edu.vn</a:t>
            </a:r>
            <a:endParaRPr lang="en-US" sz="2799" dirty="0">
              <a:solidFill>
                <a:srgbClr val="000000"/>
              </a:solidFill>
              <a:latin typeface="Quicksand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28700" y="4584322"/>
            <a:ext cx="8115300" cy="1778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4759"/>
              </a:lnSpc>
            </a:pPr>
            <a:r>
              <a:rPr lang="en-US" sz="2799" dirty="0">
                <a:solidFill>
                  <a:srgbClr val="000000"/>
                </a:solidFill>
                <a:latin typeface="Quicksand Bold"/>
              </a:rPr>
              <a:t>3. </a:t>
            </a:r>
            <a:r>
              <a:rPr lang="en-US" sz="2799" dirty="0" err="1">
                <a:solidFill>
                  <a:srgbClr val="000000"/>
                </a:solidFill>
                <a:latin typeface="Quicksand Bold"/>
              </a:rPr>
              <a:t>Cổng</a:t>
            </a:r>
            <a:r>
              <a:rPr lang="en-US" sz="2799" dirty="0">
                <a:solidFill>
                  <a:srgbClr val="000000"/>
                </a:solidFill>
                <a:latin typeface="Quicksand Bol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 Bold"/>
              </a:rPr>
              <a:t>thông</a:t>
            </a:r>
            <a:r>
              <a:rPr lang="en-US" sz="2799" dirty="0">
                <a:solidFill>
                  <a:srgbClr val="000000"/>
                </a:solidFill>
                <a:latin typeface="Quicksand Bold"/>
              </a:rPr>
              <a:t> tin </a:t>
            </a:r>
            <a:r>
              <a:rPr lang="en-US" sz="2799" dirty="0" err="1">
                <a:solidFill>
                  <a:srgbClr val="000000"/>
                </a:solidFill>
                <a:latin typeface="Quicksand Bold"/>
              </a:rPr>
              <a:t>các</a:t>
            </a:r>
            <a:r>
              <a:rPr lang="en-US" sz="2799" dirty="0">
                <a:solidFill>
                  <a:srgbClr val="000000"/>
                </a:solidFill>
                <a:latin typeface="Quicksand Bol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 Bold"/>
              </a:rPr>
              <a:t>phường</a:t>
            </a:r>
            <a:r>
              <a:rPr lang="en-US" sz="2799" dirty="0">
                <a:solidFill>
                  <a:srgbClr val="000000"/>
                </a:solidFill>
                <a:latin typeface="Quicksand Bold"/>
              </a:rPr>
              <a:t>/</a:t>
            </a:r>
            <a:r>
              <a:rPr lang="en-US" sz="2799" dirty="0" err="1">
                <a:solidFill>
                  <a:srgbClr val="000000"/>
                </a:solidFill>
                <a:latin typeface="Quicksand Bold"/>
              </a:rPr>
              <a:t>xã</a:t>
            </a:r>
            <a:r>
              <a:rPr lang="en-US" sz="2799" dirty="0">
                <a:solidFill>
                  <a:srgbClr val="000000"/>
                </a:solidFill>
                <a:latin typeface="Quicksand Bol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 Bold"/>
              </a:rPr>
              <a:t>của</a:t>
            </a:r>
            <a:r>
              <a:rPr lang="en-US" sz="2799" dirty="0">
                <a:solidFill>
                  <a:srgbClr val="000000"/>
                </a:solidFill>
                <a:latin typeface="Quicksand Bol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 Bold"/>
              </a:rPr>
              <a:t>Đà</a:t>
            </a:r>
            <a:r>
              <a:rPr lang="en-US" sz="2799" dirty="0">
                <a:solidFill>
                  <a:srgbClr val="000000"/>
                </a:solidFill>
                <a:latin typeface="Quicksand Bol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 Bold"/>
              </a:rPr>
              <a:t>Lạt</a:t>
            </a:r>
            <a:r>
              <a:rPr lang="en-US" sz="2799" dirty="0">
                <a:solidFill>
                  <a:srgbClr val="000000"/>
                </a:solidFill>
                <a:latin typeface="Quicksand Bold"/>
              </a:rPr>
              <a:t>, </a:t>
            </a:r>
            <a:r>
              <a:rPr lang="en-US" sz="2799" dirty="0" err="1">
                <a:solidFill>
                  <a:srgbClr val="000000"/>
                </a:solidFill>
                <a:latin typeface="Quicksand Bold"/>
              </a:rPr>
              <a:t>Cát</a:t>
            </a:r>
            <a:r>
              <a:rPr lang="en-US" sz="2799" dirty="0">
                <a:solidFill>
                  <a:srgbClr val="000000"/>
                </a:solidFill>
                <a:latin typeface="Quicksand Bol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 Bold"/>
              </a:rPr>
              <a:t>tiên</a:t>
            </a:r>
            <a:r>
              <a:rPr lang="en-US" sz="2799" dirty="0">
                <a:solidFill>
                  <a:srgbClr val="000000"/>
                </a:solidFill>
                <a:latin typeface="Quicksand Bold"/>
              </a:rPr>
              <a:t>, </a:t>
            </a:r>
            <a:r>
              <a:rPr lang="en-US" sz="2799" dirty="0" err="1">
                <a:solidFill>
                  <a:srgbClr val="000000"/>
                </a:solidFill>
                <a:latin typeface="Quicksand Bold"/>
              </a:rPr>
              <a:t>Bảo</a:t>
            </a:r>
            <a:r>
              <a:rPr lang="en-US" sz="2799" dirty="0">
                <a:solidFill>
                  <a:srgbClr val="000000"/>
                </a:solidFill>
                <a:latin typeface="Quicksand Bold"/>
              </a:rPr>
              <a:t> Lâm, </a:t>
            </a:r>
            <a:r>
              <a:rPr lang="en-US" sz="2799" dirty="0" err="1">
                <a:solidFill>
                  <a:srgbClr val="000000"/>
                </a:solidFill>
                <a:latin typeface="Quicksand Bold"/>
              </a:rPr>
              <a:t>Đức</a:t>
            </a:r>
            <a:r>
              <a:rPr lang="en-US" sz="2799" dirty="0">
                <a:solidFill>
                  <a:srgbClr val="000000"/>
                </a:solidFill>
                <a:latin typeface="Quicksand Bol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 Bold"/>
              </a:rPr>
              <a:t>trọng</a:t>
            </a:r>
            <a:r>
              <a:rPr lang="en-US" sz="2799" dirty="0">
                <a:solidFill>
                  <a:srgbClr val="000000"/>
                </a:solidFill>
                <a:latin typeface="Quicksand Bold"/>
              </a:rPr>
              <a:t>, </a:t>
            </a:r>
            <a:r>
              <a:rPr lang="en-US" sz="2799" dirty="0" err="1">
                <a:solidFill>
                  <a:srgbClr val="000000"/>
                </a:solidFill>
                <a:latin typeface="Quicksand Bold"/>
              </a:rPr>
              <a:t>Đơn</a:t>
            </a:r>
            <a:r>
              <a:rPr lang="en-US" sz="2799" dirty="0">
                <a:solidFill>
                  <a:srgbClr val="000000"/>
                </a:solidFill>
                <a:latin typeface="Quicksand Bol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 Bold"/>
              </a:rPr>
              <a:t>Dương</a:t>
            </a:r>
            <a:r>
              <a:rPr lang="en-US" sz="2799" dirty="0">
                <a:solidFill>
                  <a:srgbClr val="000000"/>
                </a:solidFill>
                <a:latin typeface="Quicksand Bold"/>
              </a:rPr>
              <a:t>, </a:t>
            </a:r>
            <a:r>
              <a:rPr lang="en-US" sz="2799" dirty="0" err="1">
                <a:solidFill>
                  <a:srgbClr val="000000"/>
                </a:solidFill>
                <a:latin typeface="Quicksand Bold"/>
              </a:rPr>
              <a:t>Đà</a:t>
            </a:r>
            <a:r>
              <a:rPr lang="en-US" sz="2799" dirty="0">
                <a:solidFill>
                  <a:srgbClr val="000000"/>
                </a:solidFill>
                <a:latin typeface="Quicksand Bold"/>
              </a:rPr>
              <a:t> The, </a:t>
            </a:r>
            <a:r>
              <a:rPr lang="en-US" sz="2799" dirty="0" err="1">
                <a:solidFill>
                  <a:srgbClr val="000000"/>
                </a:solidFill>
                <a:latin typeface="Quicksand Bold"/>
              </a:rPr>
              <a:t>Lạc</a:t>
            </a:r>
            <a:r>
              <a:rPr lang="en-US" sz="2799" dirty="0">
                <a:solidFill>
                  <a:srgbClr val="000000"/>
                </a:solidFill>
                <a:latin typeface="Quicksand Bold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Quicksand Bold"/>
              </a:rPr>
              <a:t>Dương</a:t>
            </a:r>
            <a:endParaRPr lang="en-US" sz="2799" dirty="0">
              <a:solidFill>
                <a:srgbClr val="000000"/>
              </a:solidFill>
              <a:latin typeface="Quicksand Bold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10217704" y="8732362"/>
            <a:ext cx="2677507" cy="1051876"/>
          </a:xfrm>
          <a:custGeom>
            <a:avLst/>
            <a:gdLst/>
            <a:ahLst/>
            <a:cxnLst/>
            <a:rect l="l" t="t" r="r" b="b"/>
            <a:pathLst>
              <a:path w="2677507" h="1051876">
                <a:moveTo>
                  <a:pt x="0" y="0"/>
                </a:moveTo>
                <a:lnTo>
                  <a:pt x="2677506" y="0"/>
                </a:lnTo>
                <a:lnTo>
                  <a:pt x="2677506" y="1051876"/>
                </a:lnTo>
                <a:lnTo>
                  <a:pt x="0" y="1051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4082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2588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897880" y="2215083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8304001" y="1116666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5897880" y="8159883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8304001" y="9008400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3442710" y="3982673"/>
            <a:ext cx="11402580" cy="1467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012"/>
              </a:lnSpc>
              <a:spcBef>
                <a:spcPct val="0"/>
              </a:spcBef>
            </a:pPr>
            <a:r>
              <a:rPr lang="en-US" sz="8580" dirty="0">
                <a:solidFill>
                  <a:srgbClr val="000000"/>
                </a:solidFill>
                <a:latin typeface="Cormorant Garamond Bold Italics"/>
              </a:rPr>
              <a:t>DEMO</a:t>
            </a:r>
          </a:p>
        </p:txBody>
      </p:sp>
      <p:sp>
        <p:nvSpPr>
          <p:cNvPr id="7" name="Freeform 7"/>
          <p:cNvSpPr/>
          <p:nvPr/>
        </p:nvSpPr>
        <p:spPr>
          <a:xfrm>
            <a:off x="7805247" y="5985500"/>
            <a:ext cx="2677507" cy="1051876"/>
          </a:xfrm>
          <a:custGeom>
            <a:avLst/>
            <a:gdLst/>
            <a:ahLst/>
            <a:cxnLst/>
            <a:rect l="l" t="t" r="r" b="b"/>
            <a:pathLst>
              <a:path w="2677507" h="1051876">
                <a:moveTo>
                  <a:pt x="0" y="0"/>
                </a:moveTo>
                <a:lnTo>
                  <a:pt x="2677506" y="0"/>
                </a:lnTo>
                <a:lnTo>
                  <a:pt x="2677506" y="1051876"/>
                </a:lnTo>
                <a:lnTo>
                  <a:pt x="0" y="10518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4082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897880" y="2215083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8304001" y="1116666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5897880" y="8159883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8304001" y="9008400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3442710" y="3982673"/>
            <a:ext cx="11402580" cy="1467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012"/>
              </a:lnSpc>
              <a:spcBef>
                <a:spcPct val="0"/>
              </a:spcBef>
            </a:pPr>
            <a:r>
              <a:rPr lang="en-US" sz="8580">
                <a:solidFill>
                  <a:srgbClr val="000000"/>
                </a:solidFill>
                <a:latin typeface="Cormorant Garamond Bold Italics"/>
              </a:rPr>
              <a:t>TRÂN TRỌNG CẢM ƠN!</a:t>
            </a:r>
          </a:p>
        </p:txBody>
      </p:sp>
      <p:sp>
        <p:nvSpPr>
          <p:cNvPr id="7" name="Freeform 7"/>
          <p:cNvSpPr/>
          <p:nvPr/>
        </p:nvSpPr>
        <p:spPr>
          <a:xfrm>
            <a:off x="7805247" y="5985500"/>
            <a:ext cx="2677507" cy="1051876"/>
          </a:xfrm>
          <a:custGeom>
            <a:avLst/>
            <a:gdLst/>
            <a:ahLst/>
            <a:cxnLst/>
            <a:rect l="l" t="t" r="r" b="b"/>
            <a:pathLst>
              <a:path w="2677507" h="1051876">
                <a:moveTo>
                  <a:pt x="0" y="0"/>
                </a:moveTo>
                <a:lnTo>
                  <a:pt x="2677506" y="0"/>
                </a:lnTo>
                <a:lnTo>
                  <a:pt x="2677506" y="1051876"/>
                </a:lnTo>
                <a:lnTo>
                  <a:pt x="0" y="10518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4082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629</Words>
  <Application>Microsoft Office PowerPoint</Application>
  <PresentationFormat>Tùy chỉnh</PresentationFormat>
  <Paragraphs>77</Paragraphs>
  <Slides>14</Slides>
  <Notes>2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9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14</vt:i4>
      </vt:variant>
    </vt:vector>
  </HeadingPairs>
  <TitlesOfParts>
    <vt:vector size="24" baseType="lpstr">
      <vt:lpstr>Roboto Bold</vt:lpstr>
      <vt:lpstr>Arial</vt:lpstr>
      <vt:lpstr>Quicksand</vt:lpstr>
      <vt:lpstr>Aileron Bold</vt:lpstr>
      <vt:lpstr>Cormorant Garamond Bold Italics</vt:lpstr>
      <vt:lpstr>Quicksand Bold</vt:lpstr>
      <vt:lpstr>Calibri</vt:lpstr>
      <vt:lpstr>Roboto Bold Italics</vt:lpstr>
      <vt:lpstr>Aptos</vt:lpstr>
      <vt:lpstr>Office Theme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Nguyễn Xuân Khoa</dc:creator>
  <cp:lastModifiedBy>Nguyễn Xuân Khoa</cp:lastModifiedBy>
  <cp:revision>10</cp:revision>
  <dcterms:created xsi:type="dcterms:W3CDTF">2006-08-16T00:00:00Z</dcterms:created>
  <dcterms:modified xsi:type="dcterms:W3CDTF">2024-03-26T08:07:18Z</dcterms:modified>
  <dc:identifier>DAGAPoEGcCQ</dc:identifier>
</cp:coreProperties>
</file>